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embeddedFontLst>
    <p:embeddedFont>
      <p:font typeface="Gelasio"/>
      <p:regular r:id="rId201314"/>
    </p:embeddedFont>
    <p:embeddedFont>
      <p:font typeface="Gelasio SemiBold"/>
      <p:regular r:id="rId201315"/>
    </p:embeddedFont>
    <p:embeddedFont>
      <p:font typeface="Gelasio Bold"/>
      <p:regular r:id="rId201316"/>
    </p:embeddedFont>
    <p:embeddedFont>
      <p:font typeface="Gelasio Medium"/>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a robust ingestion layer as the foundation. Discuss how incremental loads save compute, and full loads ensure data completeness for historical analysis. Detail the file validation step, including checks for delimiters, column counts, and basic data type inference. Emphasize the separation of good and bad records, and how retry mechanisms handle temporary network issues or resource unavailability. Highlight ADF's role in orchestrating this process, from detecting new files to triggering the Spark jobs that write to Delta tables in Bronze.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02D2C"/>
          </a:solidFill>
          <a:ln/>
        </p:spPr>
      </p:sp>
      <p:sp>
        <p:nvSpPr>
          <p:cNvPr id="3" name="Shape 1"/>
          <p:cNvSpPr/>
          <p:nvPr/>
        </p:nvSpPr>
        <p:spPr>
          <a:xfrm>
            <a:off x="0" y="0"/>
            <a:ext cx="12191695" cy="68580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02D2C"/>
          </a:solidFill>
          <a:ln/>
        </p:spPr>
      </p:sp>
      <p:sp>
        <p:nvSpPr>
          <p:cNvPr id="3" name="Shape 1"/>
          <p:cNvSpPr/>
          <p:nvPr/>
        </p:nvSpPr>
        <p:spPr>
          <a:xfrm>
            <a:off x="0" y="0"/>
            <a:ext cx="12191695" cy="6858000"/>
          </a:xfrm>
          <a:prstGeom prst="rect">
            <a:avLst/>
          </a:prstGeom>
          <a:solidFill>
            <a:srgbClr val="464342"/>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464342">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6.png"/><Relationship Id="rId9" Type="http://schemas.openxmlformats.org/officeDocument/2006/relationships/image" Target="../media/image-5-7.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7.png"/><Relationship Id="rId10" Type="http://schemas.openxmlformats.org/officeDocument/2006/relationships/image" Target="../media/image-7-8.svg"/><Relationship Id="rId11" Type="http://schemas.openxmlformats.org/officeDocument/2006/relationships/image" Target="../media/image-7-11.jpe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4.png"/><Relationship Id="rId9" Type="http://schemas.openxmlformats.org/officeDocument/2006/relationships/image" Target="../media/image-9-5.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svg"/><Relationship Id="rId15" Type="http://schemas.openxmlformats.org/officeDocument/2006/relationships/slideLayout" Target="../slideLayouts/slideLayout2.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svg"/><Relationship Id="rId4" Type="http://schemas.openxmlformats.org/officeDocument/2006/relationships/image" Target="../media/image-13-4.png"/><Relationship Id="rId5" Type="http://schemas.openxmlformats.org/officeDocument/2006/relationships/image" Target="../media/image-13-5.svg"/><Relationship Id="rId6" Type="http://schemas.openxmlformats.org/officeDocument/2006/relationships/image" Target="../media/image-13-2.png"/><Relationship Id="rId7" Type="http://schemas.openxmlformats.org/officeDocument/2006/relationships/image" Target="../media/image-13-3.svg"/><Relationship Id="rId8" Type="http://schemas.openxmlformats.org/officeDocument/2006/relationships/image" Target="../media/image-13-2.png"/><Relationship Id="rId9" Type="http://schemas.openxmlformats.org/officeDocument/2006/relationships/image" Target="../media/image-13-3.svg"/><Relationship Id="rId10" Type="http://schemas.openxmlformats.org/officeDocument/2006/relationships/image" Target="../media/image-13-2.png"/><Relationship Id="rId11" Type="http://schemas.openxmlformats.org/officeDocument/2006/relationships/image" Target="../media/image-13-3.svg"/><Relationship Id="rId12" Type="http://schemas.openxmlformats.org/officeDocument/2006/relationships/image" Target="../media/image-13-4.png"/><Relationship Id="rId13" Type="http://schemas.openxmlformats.org/officeDocument/2006/relationships/image" Target="../media/image-13-5.svg"/><Relationship Id="rId14" Type="http://schemas.openxmlformats.org/officeDocument/2006/relationships/slideLayout" Target="../slideLayouts/slideLayout2.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1.png"/><Relationship Id="rId6" Type="http://schemas.openxmlformats.org/officeDocument/2006/relationships/image" Target="../media/image-14-2.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1.png"/><Relationship Id="rId10" Type="http://schemas.openxmlformats.org/officeDocument/2006/relationships/image" Target="../media/image-14-2.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image" Target="../media/image-14-15.png"/><Relationship Id="rId16" Type="http://schemas.openxmlformats.org/officeDocument/2006/relationships/image" Target="../media/image-14-16.svg"/><Relationship Id="rId17" Type="http://schemas.openxmlformats.org/officeDocument/2006/relationships/image" Target="../media/image-14-13.png"/><Relationship Id="rId18" Type="http://schemas.openxmlformats.org/officeDocument/2006/relationships/image" Target="../media/image-14-14.svg"/><Relationship Id="rId19" Type="http://schemas.openxmlformats.org/officeDocument/2006/relationships/image" Target="../media/image-14-19.png"/><Relationship Id="rId20" Type="http://schemas.openxmlformats.org/officeDocument/2006/relationships/image" Target="../media/image-14-20.svg"/><Relationship Id="rId21" Type="http://schemas.openxmlformats.org/officeDocument/2006/relationships/slideLayout" Target="../slideLayouts/slideLayout2.xml"/><Relationship Id="rId2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9310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D8B6A4"/>
                </a:solidFill>
                <a:latin typeface="Gelasio" pitchFamily="34" charset="0"/>
                <a:ea typeface="Gelasio" pitchFamily="34" charset="-122"/>
                <a:cs typeface="Gelasio" pitchFamily="34" charset="-120"/>
              </a:rPr>
              <a:t>End-to-End E-Commerce Sales Analytics Platform</a:t>
            </a:r>
            <a:endParaRPr lang="en-US" sz="3700" dirty="0"/>
          </a:p>
        </p:txBody>
      </p:sp>
      <p:sp>
        <p:nvSpPr>
          <p:cNvPr id="4" name="Text 1"/>
          <p:cNvSpPr/>
          <p:nvPr/>
        </p:nvSpPr>
        <p:spPr>
          <a:xfrm>
            <a:off x="661475" y="3457873"/>
            <a:ext cx="6296860"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A production-ready data engineering pipeline using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Azure Data Factory</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Azure Databricks</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Delta Lake</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dbt</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and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Power BI</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 from raw CSV ingestion to executive dashboards.</a:t>
            </a:r>
            <a:endParaRPr lang="en-US" sz="1450" dirty="0"/>
          </a:p>
        </p:txBody>
      </p:sp>
      <p:sp>
        <p:nvSpPr>
          <p:cNvPr id="5" name="Shape 2"/>
          <p:cNvSpPr/>
          <p:nvPr/>
        </p:nvSpPr>
        <p:spPr>
          <a:xfrm>
            <a:off x="661475" y="4577755"/>
            <a:ext cx="1759501" cy="287139"/>
          </a:xfrm>
          <a:prstGeom prst="roundRect">
            <a:avLst>
              <a:gd name="adj" fmla="val 7899"/>
            </a:avLst>
          </a:prstGeom>
          <a:solidFill>
            <a:srgbClr val="33221A"/>
          </a:solidFill>
          <a:ln/>
        </p:spPr>
      </p:sp>
      <p:sp>
        <p:nvSpPr>
          <p:cNvPr id="6" name="Text 3"/>
          <p:cNvSpPr/>
          <p:nvPr/>
        </p:nvSpPr>
        <p:spPr>
          <a:xfrm>
            <a:off x="774879" y="4634409"/>
            <a:ext cx="2142278" cy="173831"/>
          </a:xfrm>
          <a:prstGeom prst="rect">
            <a:avLst/>
          </a:prstGeom>
          <a:noFill/>
          <a:ln/>
        </p:spPr>
        <p:txBody>
          <a:bodyPr wrap="none" lIns="0" tIns="0" rIns="0" bIns="0" rtlCol="0" anchor="t"/>
          <a:lstStyle/>
          <a:p>
            <a:pPr algn="l" indent="0" marL="0">
              <a:lnSpc>
                <a:spcPct val="96000"/>
              </a:lnSpc>
              <a:buNone/>
            </a:pPr>
            <a:r>
              <a:rPr lang="en-US" sz="1150" dirty="0">
                <a:solidFill>
                  <a:srgbClr val="C9C2C0"/>
                </a:solidFill>
                <a:latin typeface="Gelasio" pitchFamily="34" charset="0"/>
                <a:ea typeface="Gelasio" pitchFamily="34" charset="-122"/>
                <a:cs typeface="Gelasio" pitchFamily="34" charset="-120"/>
              </a:rPr>
              <a:t>DATA ENGINEERING</a:t>
            </a:r>
            <a:endParaRPr lang="en-US" sz="1150" dirty="0"/>
          </a:p>
        </p:txBody>
      </p:sp>
      <p:sp>
        <p:nvSpPr>
          <p:cNvPr id="7" name="Shape 4"/>
          <p:cNvSpPr/>
          <p:nvPr/>
        </p:nvSpPr>
        <p:spPr>
          <a:xfrm>
            <a:off x="2515430" y="4577755"/>
            <a:ext cx="1302710" cy="287139"/>
          </a:xfrm>
          <a:prstGeom prst="roundRect">
            <a:avLst>
              <a:gd name="adj" fmla="val 7899"/>
            </a:avLst>
          </a:prstGeom>
          <a:noFill/>
          <a:ln w="6350">
            <a:solidFill>
              <a:srgbClr val="C49F8C"/>
            </a:solidFill>
            <a:prstDash val="solid"/>
          </a:ln>
        </p:spPr>
      </p:sp>
      <p:sp>
        <p:nvSpPr>
          <p:cNvPr id="8" name="Text 5"/>
          <p:cNvSpPr/>
          <p:nvPr/>
        </p:nvSpPr>
        <p:spPr>
          <a:xfrm>
            <a:off x="2628834" y="4634409"/>
            <a:ext cx="1685486" cy="173831"/>
          </a:xfrm>
          <a:prstGeom prst="rect">
            <a:avLst/>
          </a:prstGeom>
          <a:noFill/>
          <a:ln/>
        </p:spPr>
        <p:txBody>
          <a:bodyPr wrap="none" lIns="0" tIns="0" rIns="0" bIns="0" rtlCol="0" anchor="t"/>
          <a:lstStyle/>
          <a:p>
            <a:pPr algn="l" indent="0" marL="0">
              <a:lnSpc>
                <a:spcPct val="96000"/>
              </a:lnSpc>
              <a:buNone/>
            </a:pPr>
            <a:r>
              <a:rPr lang="en-US" sz="1150" dirty="0">
                <a:solidFill>
                  <a:srgbClr val="C49F8C"/>
                </a:solidFill>
                <a:latin typeface="Gelasio" pitchFamily="34" charset="0"/>
                <a:ea typeface="Gelasio" pitchFamily="34" charset="-122"/>
                <a:cs typeface="Gelasio" pitchFamily="34" charset="-120"/>
              </a:rPr>
              <a:t>AZURE CLOUD</a:t>
            </a:r>
            <a:endParaRPr lang="en-US" sz="1150" dirty="0"/>
          </a:p>
        </p:txBody>
      </p:sp>
      <p:sp>
        <p:nvSpPr>
          <p:cNvPr id="9" name="Shape 6"/>
          <p:cNvSpPr/>
          <p:nvPr/>
        </p:nvSpPr>
        <p:spPr>
          <a:xfrm>
            <a:off x="3912594" y="4577755"/>
            <a:ext cx="1810995" cy="287139"/>
          </a:xfrm>
          <a:prstGeom prst="roundRect">
            <a:avLst>
              <a:gd name="adj" fmla="val 7899"/>
            </a:avLst>
          </a:prstGeom>
          <a:noFill/>
          <a:ln w="6350">
            <a:solidFill>
              <a:srgbClr val="C49F8C"/>
            </a:solidFill>
            <a:prstDash val="solid"/>
          </a:ln>
        </p:spPr>
      </p:sp>
      <p:sp>
        <p:nvSpPr>
          <p:cNvPr id="10" name="Text 7"/>
          <p:cNvSpPr/>
          <p:nvPr/>
        </p:nvSpPr>
        <p:spPr>
          <a:xfrm>
            <a:off x="4025998" y="4634409"/>
            <a:ext cx="2193771" cy="173831"/>
          </a:xfrm>
          <a:prstGeom prst="rect">
            <a:avLst/>
          </a:prstGeom>
          <a:noFill/>
          <a:ln/>
        </p:spPr>
        <p:txBody>
          <a:bodyPr wrap="none" lIns="0" tIns="0" rIns="0" bIns="0" rtlCol="0" anchor="t"/>
          <a:lstStyle/>
          <a:p>
            <a:pPr algn="l" indent="0" marL="0">
              <a:lnSpc>
                <a:spcPct val="96000"/>
              </a:lnSpc>
              <a:buNone/>
            </a:pPr>
            <a:r>
              <a:rPr lang="en-US" sz="1150" dirty="0">
                <a:solidFill>
                  <a:srgbClr val="C49F8C"/>
                </a:solidFill>
                <a:latin typeface="Gelasio" pitchFamily="34" charset="0"/>
                <a:ea typeface="Gelasio" pitchFamily="34" charset="-122"/>
                <a:cs typeface="Gelasio" pitchFamily="34" charset="-120"/>
              </a:rPr>
              <a:t>PORTFOLIO PROJECT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50069"/>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D8B6A4"/>
                </a:solidFill>
                <a:latin typeface="Gelasio" pitchFamily="34" charset="0"/>
                <a:ea typeface="Gelasio" pitchFamily="34" charset="-122"/>
                <a:cs typeface="Gelasio" pitchFamily="34" charset="-120"/>
              </a:rPr>
              <a:t>Architecture Overview</a:t>
            </a:r>
            <a:endParaRPr lang="en-US" sz="2950" dirty="0"/>
          </a:p>
        </p:txBody>
      </p:sp>
      <p:sp>
        <p:nvSpPr>
          <p:cNvPr id="3" name="Text 1"/>
          <p:cNvSpPr/>
          <p:nvPr/>
        </p:nvSpPr>
        <p:spPr>
          <a:xfrm>
            <a:off x="661475" y="1264444"/>
            <a:ext cx="10868745"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A fully automated pipeline moving data through the </a:t>
            </a:r>
            <a:pPr algn="l" indent="0" marL="0">
              <a:lnSpc>
                <a:spcPct val="120000"/>
              </a:lnSpc>
              <a:buNone/>
            </a:pPr>
            <a:r>
              <a:rPr lang="en-US" sz="1150" b="1" dirty="0">
                <a:solidFill>
                  <a:srgbClr val="C9C2C0"/>
                </a:solidFill>
                <a:latin typeface="Gelasio Bold" pitchFamily="34" charset="0"/>
                <a:ea typeface="Gelasio Bold" pitchFamily="34" charset="-122"/>
                <a:cs typeface="Gelasio Bold" pitchFamily="34" charset="-120"/>
              </a:rPr>
              <a:t>Medallion Architecture</a:t>
            </a:r>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 — from raw CSV files to polished Power BI dashboards with Slack alerts at every stage.</a:t>
            </a:r>
            <a:endParaRPr lang="en-US" sz="1150" dirty="0"/>
          </a:p>
        </p:txBody>
      </p:sp>
      <p:pic>
        <p:nvPicPr>
          <p:cNvPr id="4" name="Image 0" descr="preencoded.png">    </p:cNvPr>
          <p:cNvPicPr>
            <a:picLocks noChangeAspect="1"/>
          </p:cNvPicPr>
          <p:nvPr/>
        </p:nvPicPr>
        <p:blipFill>
          <a:blip r:embed="rId1"/>
          <a:stretch>
            <a:fillRect/>
          </a:stretch>
        </p:blipFill>
        <p:spPr>
          <a:xfrm>
            <a:off x="661475" y="1971873"/>
            <a:ext cx="4199924" cy="4200029"/>
          </a:xfrm>
          <a:prstGeom prst="rect">
            <a:avLst/>
          </a:prstGeom>
        </p:spPr>
      </p:pic>
      <p:sp>
        <p:nvSpPr>
          <p:cNvPr id="5" name="Text 2"/>
          <p:cNvSpPr/>
          <p:nvPr/>
        </p:nvSpPr>
        <p:spPr>
          <a:xfrm>
            <a:off x="6286640" y="3161705"/>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D8B6A4"/>
                </a:solidFill>
                <a:latin typeface="Gelasio" pitchFamily="34" charset="0"/>
                <a:ea typeface="Gelasio" pitchFamily="34" charset="-122"/>
                <a:cs typeface="Gelasio" pitchFamily="34" charset="-120"/>
              </a:rPr>
              <a:t>Pipeline Flow</a:t>
            </a:r>
            <a:endParaRPr lang="en-US" sz="1450" dirty="0"/>
          </a:p>
        </p:txBody>
      </p:sp>
      <p:sp>
        <p:nvSpPr>
          <p:cNvPr id="6" name="Text 3"/>
          <p:cNvSpPr/>
          <p:nvPr/>
        </p:nvSpPr>
        <p:spPr>
          <a:xfrm>
            <a:off x="6286640" y="3518892"/>
            <a:ext cx="5249930"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Each stage builds on the last — raw ingestion, cleansing, transformation, and finally curated analytics-ready datasets served to Power BI.</a:t>
            </a:r>
            <a:endParaRPr lang="en-US" sz="1150" dirty="0"/>
          </a:p>
        </p:txBody>
      </p:sp>
      <p:sp>
        <p:nvSpPr>
          <p:cNvPr id="7" name="Text 4"/>
          <p:cNvSpPr/>
          <p:nvPr/>
        </p:nvSpPr>
        <p:spPr>
          <a:xfrm>
            <a:off x="6286640" y="4063107"/>
            <a:ext cx="5249930" cy="997545"/>
          </a:xfrm>
          <a:prstGeom prst="rect">
            <a:avLst/>
          </a:prstGeom>
          <a:noFill/>
          <a:ln/>
        </p:spPr>
        <p:txBody>
          <a:bodyPr wrap="square" lIns="0" tIns="0" rIns="0" bIns="0" rtlCol="0" anchor="t">
            <a:normAutofit/>
          </a:bodyPr>
          <a:lstStyle/>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Automated ingestion</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via Azure Data Factory</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Medallion Architecture</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with Bronze → Silver → Gold</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dbt</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for Gold layer modeling and testing</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Slack alerts</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on success and failure at each stage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71897"/>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D8B6A4"/>
                </a:solidFill>
                <a:latin typeface="Gelasio" pitchFamily="34" charset="0"/>
                <a:ea typeface="Gelasio" pitchFamily="34" charset="-122"/>
                <a:cs typeface="Gelasio" pitchFamily="34" charset="-120"/>
              </a:rPr>
              <a:t>Technology Stack</a:t>
            </a:r>
            <a:endParaRPr lang="en-US" sz="2950" dirty="0"/>
          </a:p>
        </p:txBody>
      </p:sp>
      <p:sp>
        <p:nvSpPr>
          <p:cNvPr id="3" name="Text 1"/>
          <p:cNvSpPr/>
          <p:nvPr/>
        </p:nvSpPr>
        <p:spPr>
          <a:xfrm>
            <a:off x="661475" y="1286272"/>
            <a:ext cx="1147833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Eight integrated Azure and open-source tools form the backbone of this pipeline.</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39987"/>
            <a:ext cx="302411" cy="302419"/>
          </a:xfrm>
          <a:prstGeom prst="rect">
            <a:avLst/>
          </a:prstGeom>
        </p:spPr>
      </p:pic>
      <p:sp>
        <p:nvSpPr>
          <p:cNvPr id="5" name="Text 2"/>
          <p:cNvSpPr/>
          <p:nvPr/>
        </p:nvSpPr>
        <p:spPr>
          <a:xfrm>
            <a:off x="661475" y="2093615"/>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Azure Data Factory</a:t>
            </a:r>
            <a:endParaRPr lang="en-US" sz="1450" dirty="0"/>
          </a:p>
        </p:txBody>
      </p:sp>
      <p:sp>
        <p:nvSpPr>
          <p:cNvPr id="6" name="Text 3"/>
          <p:cNvSpPr/>
          <p:nvPr/>
        </p:nvSpPr>
        <p:spPr>
          <a:xfrm>
            <a:off x="661475" y="2402384"/>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Orchestrates ingestion and pipeline execution</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1450" y="1639987"/>
            <a:ext cx="302411" cy="302419"/>
          </a:xfrm>
          <a:prstGeom prst="rect">
            <a:avLst/>
          </a:prstGeom>
        </p:spPr>
      </p:pic>
      <p:sp>
        <p:nvSpPr>
          <p:cNvPr id="8" name="Text 4"/>
          <p:cNvSpPr/>
          <p:nvPr/>
        </p:nvSpPr>
        <p:spPr>
          <a:xfrm>
            <a:off x="6171450" y="2093615"/>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Azure Databricks</a:t>
            </a:r>
            <a:endParaRPr lang="en-US" sz="1450" dirty="0"/>
          </a:p>
        </p:txBody>
      </p:sp>
      <p:sp>
        <p:nvSpPr>
          <p:cNvPr id="9" name="Text 5"/>
          <p:cNvSpPr/>
          <p:nvPr/>
        </p:nvSpPr>
        <p:spPr>
          <a:xfrm>
            <a:off x="6171450" y="2402384"/>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PySpark processing on a collaborative notebook platform</a:t>
            </a:r>
            <a:endParaRPr lang="en-US" sz="11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861965"/>
            <a:ext cx="302411" cy="302419"/>
          </a:xfrm>
          <a:prstGeom prst="rect">
            <a:avLst/>
          </a:prstGeom>
        </p:spPr>
      </p:pic>
      <p:sp>
        <p:nvSpPr>
          <p:cNvPr id="11" name="Text 6"/>
          <p:cNvSpPr/>
          <p:nvPr/>
        </p:nvSpPr>
        <p:spPr>
          <a:xfrm>
            <a:off x="661475" y="3315593"/>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ADLS Gen2</a:t>
            </a:r>
            <a:endParaRPr lang="en-US" sz="1450" dirty="0"/>
          </a:p>
        </p:txBody>
      </p:sp>
      <p:sp>
        <p:nvSpPr>
          <p:cNvPr id="12" name="Text 7"/>
          <p:cNvSpPr/>
          <p:nvPr/>
        </p:nvSpPr>
        <p:spPr>
          <a:xfrm>
            <a:off x="661475" y="3624362"/>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Scalable storage for all pipeline layers</a:t>
            </a:r>
            <a:endParaRPr lang="en-US" sz="11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1450" y="2861965"/>
            <a:ext cx="302411" cy="302419"/>
          </a:xfrm>
          <a:prstGeom prst="rect">
            <a:avLst/>
          </a:prstGeom>
        </p:spPr>
      </p:pic>
      <p:sp>
        <p:nvSpPr>
          <p:cNvPr id="14" name="Text 8"/>
          <p:cNvSpPr/>
          <p:nvPr/>
        </p:nvSpPr>
        <p:spPr>
          <a:xfrm>
            <a:off x="6171450" y="3315593"/>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Delta Lake</a:t>
            </a:r>
            <a:endParaRPr lang="en-US" sz="1450" dirty="0"/>
          </a:p>
        </p:txBody>
      </p:sp>
      <p:sp>
        <p:nvSpPr>
          <p:cNvPr id="15" name="Text 9"/>
          <p:cNvSpPr/>
          <p:nvPr/>
        </p:nvSpPr>
        <p:spPr>
          <a:xfrm>
            <a:off x="6171450" y="3624362"/>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ACID transactions with schema enforcement</a:t>
            </a:r>
            <a:endParaRPr lang="en-US" sz="11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083943"/>
            <a:ext cx="302411" cy="302419"/>
          </a:xfrm>
          <a:prstGeom prst="rect">
            <a:avLst/>
          </a:prstGeom>
        </p:spPr>
      </p:pic>
      <p:sp>
        <p:nvSpPr>
          <p:cNvPr id="17" name="Text 10"/>
          <p:cNvSpPr/>
          <p:nvPr/>
        </p:nvSpPr>
        <p:spPr>
          <a:xfrm>
            <a:off x="661475" y="4537571"/>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dbt</a:t>
            </a:r>
            <a:endParaRPr lang="en-US" sz="1450" dirty="0"/>
          </a:p>
        </p:txBody>
      </p:sp>
      <p:sp>
        <p:nvSpPr>
          <p:cNvPr id="18" name="Text 11"/>
          <p:cNvSpPr/>
          <p:nvPr/>
        </p:nvSpPr>
        <p:spPr>
          <a:xfrm>
            <a:off x="661475" y="4846340"/>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SQL transformations, tests, and model lineage</a:t>
            </a:r>
            <a:endParaRPr lang="en-US" sz="11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71450" y="4083943"/>
            <a:ext cx="302411" cy="302419"/>
          </a:xfrm>
          <a:prstGeom prst="rect">
            <a:avLst/>
          </a:prstGeom>
        </p:spPr>
      </p:pic>
      <p:sp>
        <p:nvSpPr>
          <p:cNvPr id="20" name="Text 12"/>
          <p:cNvSpPr/>
          <p:nvPr/>
        </p:nvSpPr>
        <p:spPr>
          <a:xfrm>
            <a:off x="6171450" y="4537571"/>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Databricks SQL Warehouse</a:t>
            </a:r>
            <a:endParaRPr lang="en-US" sz="1450" dirty="0"/>
          </a:p>
        </p:txBody>
      </p:sp>
      <p:sp>
        <p:nvSpPr>
          <p:cNvPr id="21" name="Text 13"/>
          <p:cNvSpPr/>
          <p:nvPr/>
        </p:nvSpPr>
        <p:spPr>
          <a:xfrm>
            <a:off x="6171450" y="4846340"/>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Serverless SQL endpoint for BI queries</a:t>
            </a:r>
            <a:endParaRPr lang="en-US" sz="1150" dirty="0"/>
          </a:p>
        </p:txBody>
      </p:sp>
      <p:pic>
        <p:nvPicPr>
          <p:cNvPr id="2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5305921"/>
            <a:ext cx="302411" cy="302419"/>
          </a:xfrm>
          <a:prstGeom prst="rect">
            <a:avLst/>
          </a:prstGeom>
        </p:spPr>
      </p:pic>
      <p:sp>
        <p:nvSpPr>
          <p:cNvPr id="23" name="Text 14"/>
          <p:cNvSpPr/>
          <p:nvPr/>
        </p:nvSpPr>
        <p:spPr>
          <a:xfrm>
            <a:off x="661475" y="5759549"/>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Power BI</a:t>
            </a:r>
            <a:endParaRPr lang="en-US" sz="1450" dirty="0"/>
          </a:p>
        </p:txBody>
      </p:sp>
      <p:sp>
        <p:nvSpPr>
          <p:cNvPr id="24" name="Text 15"/>
          <p:cNvSpPr/>
          <p:nvPr/>
        </p:nvSpPr>
        <p:spPr>
          <a:xfrm>
            <a:off x="661475" y="6068318"/>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Interactive KPI dashboards and reports</a:t>
            </a:r>
            <a:endParaRPr lang="en-US" sz="1150" dirty="0"/>
          </a:p>
        </p:txBody>
      </p:sp>
      <p:pic>
        <p:nvPicPr>
          <p:cNvPr id="2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71450" y="5305921"/>
            <a:ext cx="302411" cy="302419"/>
          </a:xfrm>
          <a:prstGeom prst="rect">
            <a:avLst/>
          </a:prstGeom>
        </p:spPr>
      </p:pic>
      <p:sp>
        <p:nvSpPr>
          <p:cNvPr id="26" name="Text 16"/>
          <p:cNvSpPr/>
          <p:nvPr/>
        </p:nvSpPr>
        <p:spPr>
          <a:xfrm>
            <a:off x="6171450" y="5759549"/>
            <a:ext cx="5358770"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Slack &amp; GitHub</a:t>
            </a:r>
            <a:endParaRPr lang="en-US" sz="1450" dirty="0"/>
          </a:p>
        </p:txBody>
      </p:sp>
      <p:sp>
        <p:nvSpPr>
          <p:cNvPr id="27" name="Text 17"/>
          <p:cNvSpPr/>
          <p:nvPr/>
        </p:nvSpPr>
        <p:spPr>
          <a:xfrm>
            <a:off x="6171450" y="6068318"/>
            <a:ext cx="5358770" cy="217686"/>
          </a:xfrm>
          <a:prstGeom prst="rect">
            <a:avLst/>
          </a:prstGeom>
          <a:noFill/>
          <a:ln/>
        </p:spPr>
        <p:txBody>
          <a:bodyPr wrap="none" lIns="0" tIns="0" rIns="0" bIns="0" rtlCol="0" anchor="t"/>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Pipeline alerts and version-controlled source code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201043"/>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D8B6A4"/>
                </a:solidFill>
                <a:latin typeface="Gelasio" pitchFamily="34" charset="0"/>
                <a:ea typeface="Gelasio" pitchFamily="34" charset="-122"/>
                <a:cs typeface="Gelasio" pitchFamily="34" charset="-120"/>
              </a:rPr>
              <a:t>Bronze Layer — Raw Ingestion</a:t>
            </a:r>
            <a:endParaRPr lang="en-US" sz="3700" dirty="0"/>
          </a:p>
        </p:txBody>
      </p:sp>
      <p:sp>
        <p:nvSpPr>
          <p:cNvPr id="3" name="Text 1"/>
          <p:cNvSpPr/>
          <p:nvPr/>
        </p:nvSpPr>
        <p:spPr>
          <a:xfrm>
            <a:off x="661475" y="2169716"/>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The Bronze layer captures </a:t>
            </a:r>
            <a:pPr algn="l" indent="0" marL="0">
              <a:lnSpc>
                <a:spcPct val="133000"/>
              </a:lnSpc>
              <a:buNone/>
            </a:pPr>
            <a:r>
              <a:rPr lang="en-US" sz="1450" b="1" dirty="0">
                <a:solidFill>
                  <a:srgbClr val="C9C2C0"/>
                </a:solidFill>
                <a:latin typeface="Gelasio Bold" pitchFamily="34" charset="0"/>
                <a:ea typeface="Gelasio Bold" pitchFamily="34" charset="-122"/>
                <a:cs typeface="Gelasio Bold" pitchFamily="34" charset="-120"/>
              </a:rPr>
              <a:t>immutable raw data</a:t>
            </a:r>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 exactly as it arrives — the single source of truth for all downstream processing.</a:t>
            </a:r>
            <a:endParaRPr lang="en-US" sz="1450" dirty="0"/>
          </a:p>
        </p:txBody>
      </p:sp>
      <p:sp>
        <p:nvSpPr>
          <p:cNvPr id="4" name="Shape 2"/>
          <p:cNvSpPr/>
          <p:nvPr/>
        </p:nvSpPr>
        <p:spPr>
          <a:xfrm>
            <a:off x="661475" y="2684760"/>
            <a:ext cx="5339820" cy="1391543"/>
          </a:xfrm>
          <a:prstGeom prst="roundRect">
            <a:avLst>
              <a:gd name="adj" fmla="val 2038"/>
            </a:avLst>
          </a:prstGeom>
          <a:solidFill>
            <a:srgbClr val="373433"/>
          </a:solidFill>
          <a:ln/>
        </p:spPr>
      </p:sp>
      <p:sp>
        <p:nvSpPr>
          <p:cNvPr id="5" name="Text 3"/>
          <p:cNvSpPr/>
          <p:nvPr/>
        </p:nvSpPr>
        <p:spPr>
          <a:xfrm>
            <a:off x="850482" y="2873772"/>
            <a:ext cx="4961806" cy="295275"/>
          </a:xfrm>
          <a:prstGeom prst="rect">
            <a:avLst/>
          </a:prstGeom>
          <a:noFill/>
          <a:ln/>
        </p:spPr>
        <p:txBody>
          <a:bodyPr wrap="none" lIns="0" tIns="0" rIns="0" bIns="0" rtlCol="0" anchor="t"/>
          <a:lstStyle/>
          <a:p>
            <a:pPr algn="l" indent="0" marL="0">
              <a:lnSpc>
                <a:spcPct val="104000"/>
              </a:lnSpc>
              <a:buNone/>
            </a:pPr>
            <a:r>
              <a:rPr lang="en-US" sz="1850" dirty="0">
                <a:solidFill>
                  <a:srgbClr val="C9C2C0"/>
                </a:solidFill>
                <a:latin typeface="Gelasio" pitchFamily="34" charset="0"/>
                <a:ea typeface="Gelasio" pitchFamily="34" charset="-122"/>
                <a:cs typeface="Gelasio" pitchFamily="34" charset="-120"/>
              </a:rPr>
              <a:t>Incremental Loading</a:t>
            </a:r>
            <a:endParaRPr lang="en-US" sz="1850" dirty="0"/>
          </a:p>
        </p:txBody>
      </p:sp>
      <p:sp>
        <p:nvSpPr>
          <p:cNvPr id="6" name="Text 4"/>
          <p:cNvSpPr/>
          <p:nvPr/>
        </p:nvSpPr>
        <p:spPr>
          <a:xfrm>
            <a:off x="850482" y="3282454"/>
            <a:ext cx="49618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Only new or changed records are ingested per run, minimizing cost and latency</a:t>
            </a:r>
            <a:endParaRPr lang="en-US" sz="1450" dirty="0"/>
          </a:p>
        </p:txBody>
      </p:sp>
      <p:sp>
        <p:nvSpPr>
          <p:cNvPr id="7" name="Shape 5"/>
          <p:cNvSpPr/>
          <p:nvPr/>
        </p:nvSpPr>
        <p:spPr>
          <a:xfrm>
            <a:off x="6190301" y="2684760"/>
            <a:ext cx="5339919" cy="1391543"/>
          </a:xfrm>
          <a:prstGeom prst="roundRect">
            <a:avLst>
              <a:gd name="adj" fmla="val 2038"/>
            </a:avLst>
          </a:prstGeom>
          <a:solidFill>
            <a:srgbClr val="373433"/>
          </a:solidFill>
          <a:ln/>
        </p:spPr>
      </p:sp>
      <p:sp>
        <p:nvSpPr>
          <p:cNvPr id="8" name="Text 6"/>
          <p:cNvSpPr/>
          <p:nvPr/>
        </p:nvSpPr>
        <p:spPr>
          <a:xfrm>
            <a:off x="6379308" y="2873772"/>
            <a:ext cx="4961905" cy="295275"/>
          </a:xfrm>
          <a:prstGeom prst="rect">
            <a:avLst/>
          </a:prstGeom>
          <a:noFill/>
          <a:ln/>
        </p:spPr>
        <p:txBody>
          <a:bodyPr wrap="none" lIns="0" tIns="0" rIns="0" bIns="0" rtlCol="0" anchor="t"/>
          <a:lstStyle/>
          <a:p>
            <a:pPr algn="l" indent="0" marL="0">
              <a:lnSpc>
                <a:spcPct val="104000"/>
              </a:lnSpc>
              <a:buNone/>
            </a:pPr>
            <a:r>
              <a:rPr lang="en-US" sz="1850" dirty="0">
                <a:solidFill>
                  <a:srgbClr val="C9C2C0"/>
                </a:solidFill>
                <a:latin typeface="Gelasio" pitchFamily="34" charset="0"/>
                <a:ea typeface="Gelasio" pitchFamily="34" charset="-122"/>
                <a:cs typeface="Gelasio" pitchFamily="34" charset="-120"/>
              </a:rPr>
              <a:t>Audit Logging</a:t>
            </a:r>
            <a:endParaRPr lang="en-US" sz="1850" dirty="0"/>
          </a:p>
        </p:txBody>
      </p:sp>
      <p:sp>
        <p:nvSpPr>
          <p:cNvPr id="9" name="Text 7"/>
          <p:cNvSpPr/>
          <p:nvPr/>
        </p:nvSpPr>
        <p:spPr>
          <a:xfrm>
            <a:off x="6379308" y="3282454"/>
            <a:ext cx="49619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Every load operation is logged with timestamps, record counts, and status</a:t>
            </a:r>
            <a:endParaRPr lang="en-US" sz="1450" dirty="0"/>
          </a:p>
        </p:txBody>
      </p:sp>
      <p:sp>
        <p:nvSpPr>
          <p:cNvPr id="10" name="Shape 8"/>
          <p:cNvSpPr/>
          <p:nvPr/>
        </p:nvSpPr>
        <p:spPr>
          <a:xfrm>
            <a:off x="661475" y="4265315"/>
            <a:ext cx="5339820" cy="1391543"/>
          </a:xfrm>
          <a:prstGeom prst="roundRect">
            <a:avLst>
              <a:gd name="adj" fmla="val 2038"/>
            </a:avLst>
          </a:prstGeom>
          <a:solidFill>
            <a:srgbClr val="373433"/>
          </a:solidFill>
          <a:ln/>
        </p:spPr>
      </p:sp>
      <p:sp>
        <p:nvSpPr>
          <p:cNvPr id="11" name="Text 9"/>
          <p:cNvSpPr/>
          <p:nvPr/>
        </p:nvSpPr>
        <p:spPr>
          <a:xfrm>
            <a:off x="850482" y="4454327"/>
            <a:ext cx="4961806" cy="295275"/>
          </a:xfrm>
          <a:prstGeom prst="rect">
            <a:avLst/>
          </a:prstGeom>
          <a:noFill/>
          <a:ln/>
        </p:spPr>
        <p:txBody>
          <a:bodyPr wrap="none" lIns="0" tIns="0" rIns="0" bIns="0" rtlCol="0" anchor="t"/>
          <a:lstStyle/>
          <a:p>
            <a:pPr algn="l" indent="0" marL="0">
              <a:lnSpc>
                <a:spcPct val="104000"/>
              </a:lnSpc>
              <a:buNone/>
            </a:pPr>
            <a:r>
              <a:rPr lang="en-US" sz="1850" dirty="0">
                <a:solidFill>
                  <a:srgbClr val="C9C2C0"/>
                </a:solidFill>
                <a:latin typeface="Gelasio" pitchFamily="34" charset="0"/>
                <a:ea typeface="Gelasio" pitchFamily="34" charset="-122"/>
                <a:cs typeface="Gelasio" pitchFamily="34" charset="-120"/>
              </a:rPr>
              <a:t>Delta Tables</a:t>
            </a:r>
            <a:endParaRPr lang="en-US" sz="1850" dirty="0"/>
          </a:p>
        </p:txBody>
      </p:sp>
      <p:sp>
        <p:nvSpPr>
          <p:cNvPr id="12" name="Text 10"/>
          <p:cNvSpPr/>
          <p:nvPr/>
        </p:nvSpPr>
        <p:spPr>
          <a:xfrm>
            <a:off x="850482" y="4863009"/>
            <a:ext cx="49618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Data stored as Delta format for ACID compliance and time-travel queries</a:t>
            </a:r>
            <a:endParaRPr lang="en-US" sz="1450" dirty="0"/>
          </a:p>
        </p:txBody>
      </p:sp>
      <p:sp>
        <p:nvSpPr>
          <p:cNvPr id="13" name="Shape 11"/>
          <p:cNvSpPr/>
          <p:nvPr/>
        </p:nvSpPr>
        <p:spPr>
          <a:xfrm>
            <a:off x="6190301" y="4265315"/>
            <a:ext cx="5339919" cy="1391543"/>
          </a:xfrm>
          <a:prstGeom prst="roundRect">
            <a:avLst>
              <a:gd name="adj" fmla="val 2038"/>
            </a:avLst>
          </a:prstGeom>
          <a:solidFill>
            <a:srgbClr val="373433"/>
          </a:solidFill>
          <a:ln/>
        </p:spPr>
      </p:sp>
      <p:sp>
        <p:nvSpPr>
          <p:cNvPr id="14" name="Text 12"/>
          <p:cNvSpPr/>
          <p:nvPr/>
        </p:nvSpPr>
        <p:spPr>
          <a:xfrm>
            <a:off x="6379308" y="4454327"/>
            <a:ext cx="4961905" cy="295275"/>
          </a:xfrm>
          <a:prstGeom prst="rect">
            <a:avLst/>
          </a:prstGeom>
          <a:noFill/>
          <a:ln/>
        </p:spPr>
        <p:txBody>
          <a:bodyPr wrap="none" lIns="0" tIns="0" rIns="0" bIns="0" rtlCol="0" anchor="t"/>
          <a:lstStyle/>
          <a:p>
            <a:pPr algn="l" indent="0" marL="0">
              <a:lnSpc>
                <a:spcPct val="104000"/>
              </a:lnSpc>
              <a:buNone/>
            </a:pPr>
            <a:r>
              <a:rPr lang="en-US" sz="1850" dirty="0">
                <a:solidFill>
                  <a:srgbClr val="C9C2C0"/>
                </a:solidFill>
                <a:latin typeface="Gelasio" pitchFamily="34" charset="0"/>
                <a:ea typeface="Gelasio" pitchFamily="34" charset="-122"/>
                <a:cs typeface="Gelasio" pitchFamily="34" charset="-120"/>
              </a:rPr>
              <a:t>Schema Enforcement</a:t>
            </a:r>
            <a:endParaRPr lang="en-US" sz="1850" dirty="0"/>
          </a:p>
        </p:txBody>
      </p:sp>
      <p:sp>
        <p:nvSpPr>
          <p:cNvPr id="15" name="Text 13"/>
          <p:cNvSpPr/>
          <p:nvPr/>
        </p:nvSpPr>
        <p:spPr>
          <a:xfrm>
            <a:off x="6379308" y="4863009"/>
            <a:ext cx="49619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9C2C0"/>
                </a:solidFill>
                <a:latin typeface="Gelasio" pitchFamily="34" charset="0"/>
                <a:ea typeface="Gelasio" pitchFamily="34" charset="-122"/>
                <a:cs typeface="Gelasio" pitchFamily="34" charset="-120"/>
              </a:rPr>
              <a:t>Expected schema validated at ingestion to catch upstream issues early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772047"/>
          </a:xfrm>
          <a:prstGeom prst="rect">
            <a:avLst/>
          </a:prstGeom>
        </p:spPr>
      </p:pic>
      <p:sp>
        <p:nvSpPr>
          <p:cNvPr id="3" name="Text 0"/>
          <p:cNvSpPr/>
          <p:nvPr/>
        </p:nvSpPr>
        <p:spPr>
          <a:xfrm>
            <a:off x="661475" y="2567980"/>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D8B6A4"/>
                </a:solidFill>
                <a:latin typeface="Gelasio" pitchFamily="34" charset="0"/>
                <a:ea typeface="Gelasio" pitchFamily="34" charset="-122"/>
                <a:cs typeface="Gelasio" pitchFamily="34" charset="-120"/>
              </a:rPr>
              <a:t>PySpark Transformations for the Silver Layer</a:t>
            </a:r>
            <a:endParaRPr lang="en-US" sz="2750" dirty="0"/>
          </a:p>
        </p:txBody>
      </p:sp>
      <p:sp>
        <p:nvSpPr>
          <p:cNvPr id="4" name="Text 1"/>
          <p:cNvSpPr/>
          <p:nvPr/>
        </p:nvSpPr>
        <p:spPr>
          <a:xfrm>
            <a:off x="661475" y="3170436"/>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The Silver layer leverages </a:t>
            </a:r>
            <a:pPr algn="l" indent="0" marL="0">
              <a:lnSpc>
                <a:spcPct val="117000"/>
              </a:lnSpc>
              <a:buNone/>
            </a:pPr>
            <a:r>
              <a:rPr lang="en-US" sz="1100" b="1" dirty="0">
                <a:solidFill>
                  <a:srgbClr val="C9C2C0"/>
                </a:solidFill>
                <a:latin typeface="Gelasio Bold" pitchFamily="34" charset="0"/>
                <a:ea typeface="Gelasio Bold" pitchFamily="34" charset="-122"/>
                <a:cs typeface="Gelasio Bold" pitchFamily="34" charset="-120"/>
              </a:rPr>
              <a:t>PySpark</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on Azure Databricks to perform advanced transformations, ensuring data is clean, consistent, and structured for reliable analysis.</a:t>
            </a:r>
            <a:endParaRPr lang="en-US" sz="11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3488432"/>
            <a:ext cx="5381193" cy="1227336"/>
          </a:xfrm>
          <a:prstGeom prst="rect">
            <a:avLst/>
          </a:prstGeom>
        </p:spPr>
      </p:pic>
      <p:sp>
        <p:nvSpPr>
          <p:cNvPr id="6" name="Text 2"/>
          <p:cNvSpPr/>
          <p:nvPr/>
        </p:nvSpPr>
        <p:spPr>
          <a:xfrm>
            <a:off x="898403" y="3649166"/>
            <a:ext cx="4983534" cy="221456"/>
          </a:xfrm>
          <a:prstGeom prst="rect">
            <a:avLst/>
          </a:prstGeom>
          <a:noFill/>
          <a:ln/>
        </p:spPr>
        <p:txBody>
          <a:bodyPr wrap="none" lIns="0" tIns="0" rIns="0" bIns="0" rtlCol="0" anchor="t"/>
          <a:lstStyle/>
          <a:p>
            <a:pPr algn="l" indent="0" marL="0">
              <a:lnSpc>
                <a:spcPct val="104000"/>
              </a:lnSpc>
              <a:buNone/>
            </a:pPr>
            <a:r>
              <a:rPr lang="en-US" sz="1350" dirty="0">
                <a:solidFill>
                  <a:srgbClr val="C9C2C0"/>
                </a:solidFill>
                <a:latin typeface="Gelasio" pitchFamily="34" charset="0"/>
                <a:ea typeface="Gelasio" pitchFamily="34" charset="-122"/>
                <a:cs typeface="Gelasio" pitchFamily="34" charset="-120"/>
              </a:rPr>
              <a:t>Deduplication &amp; SCD Handling</a:t>
            </a:r>
            <a:endParaRPr lang="en-US" sz="1350" dirty="0"/>
          </a:p>
        </p:txBody>
      </p:sp>
      <p:sp>
        <p:nvSpPr>
          <p:cNvPr id="7" name="Text 3"/>
          <p:cNvSpPr/>
          <p:nvPr/>
        </p:nvSpPr>
        <p:spPr>
          <a:xfrm>
            <a:off x="898403" y="3934321"/>
            <a:ext cx="4983534" cy="6080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Utilize window functions like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row_number()</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to identify and remove duplicate records, keeping the most recent or relevant entry for Slowly Changing Dimensions (SCD).</a:t>
            </a:r>
            <a:endParaRPr lang="en-US" sz="11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48928" y="3488432"/>
            <a:ext cx="5381292" cy="1227336"/>
          </a:xfrm>
          <a:prstGeom prst="rect">
            <a:avLst/>
          </a:prstGeom>
        </p:spPr>
      </p:pic>
      <p:sp>
        <p:nvSpPr>
          <p:cNvPr id="9" name="Text 4"/>
          <p:cNvSpPr/>
          <p:nvPr/>
        </p:nvSpPr>
        <p:spPr>
          <a:xfrm>
            <a:off x="6385857" y="3649166"/>
            <a:ext cx="4983633" cy="221456"/>
          </a:xfrm>
          <a:prstGeom prst="rect">
            <a:avLst/>
          </a:prstGeom>
          <a:noFill/>
          <a:ln/>
        </p:spPr>
        <p:txBody>
          <a:bodyPr wrap="none" lIns="0" tIns="0" rIns="0" bIns="0" rtlCol="0" anchor="t"/>
          <a:lstStyle/>
          <a:p>
            <a:pPr algn="l" indent="0" marL="0">
              <a:lnSpc>
                <a:spcPct val="104000"/>
              </a:lnSpc>
              <a:buNone/>
            </a:pPr>
            <a:r>
              <a:rPr lang="en-US" sz="1350" dirty="0">
                <a:solidFill>
                  <a:srgbClr val="C9C2C0"/>
                </a:solidFill>
                <a:latin typeface="Gelasio" pitchFamily="34" charset="0"/>
                <a:ea typeface="Gelasio" pitchFamily="34" charset="-122"/>
                <a:cs typeface="Gelasio" pitchFamily="34" charset="-120"/>
              </a:rPr>
              <a:t>Null Handling Strategies</a:t>
            </a:r>
            <a:endParaRPr lang="en-US" sz="1350" dirty="0"/>
          </a:p>
        </p:txBody>
      </p:sp>
      <p:sp>
        <p:nvSpPr>
          <p:cNvPr id="10" name="Text 5"/>
          <p:cNvSpPr/>
          <p:nvPr/>
        </p:nvSpPr>
        <p:spPr>
          <a:xfrm>
            <a:off x="6385857" y="3934321"/>
            <a:ext cx="4983633" cy="6207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Employ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F.coalesce()</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to replace nulls with meaningful defaults across multiple columns, and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F.when().otherwise()</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for conditional null assignments based on business logic.</a:t>
            </a:r>
            <a:endParaRPr lang="en-US" sz="11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822031"/>
            <a:ext cx="5381193" cy="1240036"/>
          </a:xfrm>
          <a:prstGeom prst="rect">
            <a:avLst/>
          </a:prstGeom>
        </p:spPr>
      </p:pic>
      <p:sp>
        <p:nvSpPr>
          <p:cNvPr id="12" name="Text 6"/>
          <p:cNvSpPr/>
          <p:nvPr/>
        </p:nvSpPr>
        <p:spPr>
          <a:xfrm>
            <a:off x="898403" y="4982766"/>
            <a:ext cx="4983534" cy="221456"/>
          </a:xfrm>
          <a:prstGeom prst="rect">
            <a:avLst/>
          </a:prstGeom>
          <a:noFill/>
          <a:ln/>
        </p:spPr>
        <p:txBody>
          <a:bodyPr wrap="none" lIns="0" tIns="0" rIns="0" bIns="0" rtlCol="0" anchor="t"/>
          <a:lstStyle/>
          <a:p>
            <a:pPr algn="l" indent="0" marL="0">
              <a:lnSpc>
                <a:spcPct val="104000"/>
              </a:lnSpc>
              <a:buNone/>
            </a:pPr>
            <a:r>
              <a:rPr lang="en-US" sz="1350" dirty="0">
                <a:solidFill>
                  <a:srgbClr val="C9C2C0"/>
                </a:solidFill>
                <a:latin typeface="Gelasio" pitchFamily="34" charset="0"/>
                <a:ea typeface="Gelasio" pitchFamily="34" charset="-122"/>
                <a:cs typeface="Gelasio" pitchFamily="34" charset="-120"/>
              </a:rPr>
              <a:t>Data Type Conversions</a:t>
            </a:r>
            <a:endParaRPr lang="en-US" sz="1350" dirty="0"/>
          </a:p>
        </p:txBody>
      </p:sp>
      <p:sp>
        <p:nvSpPr>
          <p:cNvPr id="13" name="Text 7"/>
          <p:cNvSpPr/>
          <p:nvPr/>
        </p:nvSpPr>
        <p:spPr>
          <a:xfrm>
            <a:off x="898403" y="5267920"/>
            <a:ext cx="4983534" cy="633412"/>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Standardize data types using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.cast()</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to enforce schema consistency, converting string-based values to their appropriate numeric (e.g.,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DecimalType()</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or temporal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DateType()</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formats.</a:t>
            </a:r>
            <a:endParaRPr lang="en-US" sz="110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48928" y="4822031"/>
            <a:ext cx="5381292" cy="1240036"/>
          </a:xfrm>
          <a:prstGeom prst="rect">
            <a:avLst/>
          </a:prstGeom>
        </p:spPr>
      </p:pic>
      <p:sp>
        <p:nvSpPr>
          <p:cNvPr id="15" name="Text 8"/>
          <p:cNvSpPr/>
          <p:nvPr/>
        </p:nvSpPr>
        <p:spPr>
          <a:xfrm>
            <a:off x="6385857" y="4982766"/>
            <a:ext cx="4983633" cy="221456"/>
          </a:xfrm>
          <a:prstGeom prst="rect">
            <a:avLst/>
          </a:prstGeom>
          <a:noFill/>
          <a:ln/>
        </p:spPr>
        <p:txBody>
          <a:bodyPr wrap="none" lIns="0" tIns="0" rIns="0" bIns="0" rtlCol="0" anchor="t"/>
          <a:lstStyle/>
          <a:p>
            <a:pPr algn="l" indent="0" marL="0">
              <a:lnSpc>
                <a:spcPct val="104000"/>
              </a:lnSpc>
              <a:buNone/>
            </a:pPr>
            <a:r>
              <a:rPr lang="en-US" sz="1350" dirty="0">
                <a:solidFill>
                  <a:srgbClr val="C9C2C0"/>
                </a:solidFill>
                <a:latin typeface="Gelasio" pitchFamily="34" charset="0"/>
                <a:ea typeface="Gelasio" pitchFamily="34" charset="-122"/>
                <a:cs typeface="Gelasio" pitchFamily="34" charset="-120"/>
              </a:rPr>
              <a:t>Business Rule Application</a:t>
            </a:r>
            <a:endParaRPr lang="en-US" sz="1350" dirty="0"/>
          </a:p>
        </p:txBody>
      </p:sp>
      <p:sp>
        <p:nvSpPr>
          <p:cNvPr id="16" name="Text 9"/>
          <p:cNvSpPr/>
          <p:nvPr/>
        </p:nvSpPr>
        <p:spPr>
          <a:xfrm>
            <a:off x="6385857" y="5267920"/>
            <a:ext cx="4983633" cy="6080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Apply specific business rules such as calculating derived metrics, creating flags (e.g., </a:t>
            </a:r>
            <a:pPr algn="l" indent="0" marL="0">
              <a:lnSpc>
                <a:spcPct val="117000"/>
              </a:lnSpc>
              <a:buNone/>
            </a:pPr>
            <a:r>
              <a:rPr lang="en-US" sz="1100" dirty="0">
                <a:solidFill>
                  <a:srgbClr val="C9C2C0"/>
                </a:solidFill>
                <a:highlight>
                  <a:srgbClr val="53504F"/>
                </a:highlight>
                <a:latin typeface="Consolas" pitchFamily="34" charset="0"/>
                <a:ea typeface="Consolas" pitchFamily="34" charset="-122"/>
                <a:cs typeface="Consolas" pitchFamily="34" charset="-120"/>
              </a:rPr>
              <a:t>is_active</a:t>
            </a:r>
            <a:pPr algn="l" indent="0" marL="0">
              <a:lnSpc>
                <a:spcPct val="117000"/>
              </a:lnSpc>
              <a:buNone/>
            </a:pPr>
            <a:r>
              <a:rPr lang="en-US" sz="1100" dirty="0">
                <a:solidFill>
                  <a:srgbClr val="C9C2C0"/>
                </a:solidFill>
                <a:latin typeface="Gelasio" pitchFamily="34" charset="0"/>
                <a:ea typeface="Gelasio" pitchFamily="34" charset="-122"/>
                <a:cs typeface="Gelasio" pitchFamily="34" charset="-120"/>
              </a:rPr>
              <a:t>), or enriching data by joining with master datasets to create a unified view.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84907"/>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D8B6A4"/>
                </a:solidFill>
                <a:latin typeface="Gelasio" pitchFamily="34" charset="0"/>
                <a:ea typeface="Gelasio" pitchFamily="34" charset="-122"/>
                <a:cs typeface="Gelasio" pitchFamily="34" charset="-120"/>
              </a:rPr>
              <a:t>Gold Layer — dbt Models &amp; Star Schema</a:t>
            </a:r>
            <a:endParaRPr lang="en-US" sz="3150" dirty="0"/>
          </a:p>
        </p:txBody>
      </p:sp>
      <p:sp>
        <p:nvSpPr>
          <p:cNvPr id="3" name="Text 1"/>
          <p:cNvSpPr/>
          <p:nvPr/>
        </p:nvSpPr>
        <p:spPr>
          <a:xfrm>
            <a:off x="661475" y="1460004"/>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The Gold layer uses </a:t>
            </a:r>
            <a:pPr algn="l" indent="0" marL="0">
              <a:lnSpc>
                <a:spcPct val="123000"/>
              </a:lnSpc>
              <a:buNone/>
            </a:pPr>
            <a:r>
              <a:rPr lang="en-US" sz="1250" b="1" dirty="0">
                <a:solidFill>
                  <a:srgbClr val="C9C2C0"/>
                </a:solidFill>
                <a:latin typeface="Gelasio Bold" pitchFamily="34" charset="0"/>
                <a:ea typeface="Gelasio Bold" pitchFamily="34" charset="-122"/>
                <a:cs typeface="Gelasio Bold" pitchFamily="34" charset="-120"/>
              </a:rPr>
              <a:t>dbt</a:t>
            </a:r>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 to build a </a:t>
            </a:r>
            <a:pPr algn="l" indent="0" marL="0">
              <a:lnSpc>
                <a:spcPct val="123000"/>
              </a:lnSpc>
              <a:buNone/>
            </a:pPr>
            <a:r>
              <a:rPr lang="en-US" sz="1250" b="1" dirty="0">
                <a:solidFill>
                  <a:srgbClr val="C9C2C0"/>
                </a:solidFill>
                <a:latin typeface="Gelasio Bold" pitchFamily="34" charset="0"/>
                <a:ea typeface="Gelasio Bold" pitchFamily="34" charset="-122"/>
                <a:cs typeface="Gelasio Bold" pitchFamily="34" charset="-120"/>
              </a:rPr>
              <a:t>star schema</a:t>
            </a:r>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 — staging, dimensions, facts, marts, and KPI models ready for Power BI.</a:t>
            </a:r>
            <a:endParaRPr lang="en-US" sz="1250" dirty="0"/>
          </a:p>
        </p:txBody>
      </p:sp>
      <p:sp>
        <p:nvSpPr>
          <p:cNvPr id="4" name="Text 2"/>
          <p:cNvSpPr/>
          <p:nvPr/>
        </p:nvSpPr>
        <p:spPr>
          <a:xfrm>
            <a:off x="661475" y="1987848"/>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dbt Model Layers</a:t>
            </a:r>
            <a:endParaRPr lang="en-US" sz="1550" dirty="0"/>
          </a:p>
        </p:txBody>
      </p:sp>
      <p:sp>
        <p:nvSpPr>
          <p:cNvPr id="5" name="Text 3"/>
          <p:cNvSpPr/>
          <p:nvPr/>
        </p:nvSpPr>
        <p:spPr>
          <a:xfrm>
            <a:off x="661475" y="2392462"/>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C9C2C0"/>
                </a:solidFill>
                <a:latin typeface="Gelasio Light" pitchFamily="34" charset="0"/>
                <a:ea typeface="Gelasio Light" pitchFamily="34" charset="-122"/>
                <a:cs typeface="Gelasio Light" pitchFamily="34" charset="-120"/>
              </a:rPr>
              <a:t>01</a:t>
            </a:r>
            <a:endParaRPr lang="en-US" sz="1250" dirty="0"/>
          </a:p>
        </p:txBody>
      </p:sp>
      <p:sp>
        <p:nvSpPr>
          <p:cNvPr id="6" name="Shape 4"/>
          <p:cNvSpPr/>
          <p:nvPr/>
        </p:nvSpPr>
        <p:spPr>
          <a:xfrm>
            <a:off x="661475" y="2646363"/>
            <a:ext cx="5238421" cy="19050"/>
          </a:xfrm>
          <a:prstGeom prst="rect">
            <a:avLst/>
          </a:prstGeom>
          <a:solidFill>
            <a:srgbClr val="C49F8C"/>
          </a:solidFill>
          <a:ln/>
        </p:spPr>
      </p:sp>
      <p:sp>
        <p:nvSpPr>
          <p:cNvPr id="7" name="Text 5"/>
          <p:cNvSpPr/>
          <p:nvPr/>
        </p:nvSpPr>
        <p:spPr>
          <a:xfrm>
            <a:off x="661475" y="2764730"/>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Staging</a:t>
            </a:r>
            <a:endParaRPr lang="en-US" sz="1550" dirty="0"/>
          </a:p>
        </p:txBody>
      </p:sp>
      <p:sp>
        <p:nvSpPr>
          <p:cNvPr id="8" name="Text 6"/>
          <p:cNvSpPr/>
          <p:nvPr/>
        </p:nvSpPr>
        <p:spPr>
          <a:xfrm>
            <a:off x="661475" y="3152279"/>
            <a:ext cx="5238421" cy="237728"/>
          </a:xfrm>
          <a:prstGeom prst="rect">
            <a:avLst/>
          </a:prstGeom>
          <a:noFill/>
          <a:ln/>
        </p:spPr>
        <p:txBody>
          <a:bodyPr wrap="none" lIns="0" tIns="0" rIns="0" bIns="0" rtlCol="0" anchor="t"/>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Light transforms, column renaming, source exposure</a:t>
            </a:r>
            <a:endParaRPr lang="en-US" sz="1250" dirty="0"/>
          </a:p>
        </p:txBody>
      </p:sp>
      <p:sp>
        <p:nvSpPr>
          <p:cNvPr id="9" name="Text 7"/>
          <p:cNvSpPr/>
          <p:nvPr/>
        </p:nvSpPr>
        <p:spPr>
          <a:xfrm>
            <a:off x="661475" y="3646984"/>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C9C2C0"/>
                </a:solidFill>
                <a:latin typeface="Gelasio Light" pitchFamily="34" charset="0"/>
                <a:ea typeface="Gelasio Light" pitchFamily="34" charset="-122"/>
                <a:cs typeface="Gelasio Light" pitchFamily="34" charset="-120"/>
              </a:rPr>
              <a:t>02</a:t>
            </a:r>
            <a:endParaRPr lang="en-US" sz="1250" dirty="0"/>
          </a:p>
        </p:txBody>
      </p:sp>
      <p:sp>
        <p:nvSpPr>
          <p:cNvPr id="10" name="Shape 8"/>
          <p:cNvSpPr/>
          <p:nvPr/>
        </p:nvSpPr>
        <p:spPr>
          <a:xfrm>
            <a:off x="661475" y="3900884"/>
            <a:ext cx="5238421" cy="19050"/>
          </a:xfrm>
          <a:prstGeom prst="rect">
            <a:avLst/>
          </a:prstGeom>
          <a:solidFill>
            <a:srgbClr val="C49F8C"/>
          </a:solidFill>
          <a:ln/>
        </p:spPr>
      </p:sp>
      <p:sp>
        <p:nvSpPr>
          <p:cNvPr id="11" name="Text 9"/>
          <p:cNvSpPr/>
          <p:nvPr/>
        </p:nvSpPr>
        <p:spPr>
          <a:xfrm>
            <a:off x="661475" y="4019252"/>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Dimensions &amp; Facts</a:t>
            </a:r>
            <a:endParaRPr lang="en-US" sz="1550" dirty="0"/>
          </a:p>
        </p:txBody>
      </p:sp>
      <p:sp>
        <p:nvSpPr>
          <p:cNvPr id="12" name="Text 10"/>
          <p:cNvSpPr/>
          <p:nvPr/>
        </p:nvSpPr>
        <p:spPr>
          <a:xfrm>
            <a:off x="661475" y="4406801"/>
            <a:ext cx="5238421" cy="237728"/>
          </a:xfrm>
          <a:prstGeom prst="rect">
            <a:avLst/>
          </a:prstGeom>
          <a:noFill/>
          <a:ln/>
        </p:spPr>
        <p:txBody>
          <a:bodyPr wrap="none" lIns="0" tIns="0" rIns="0" bIns="0" rtlCol="0" anchor="t"/>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Conformed entities and transactional fact tables</a:t>
            </a:r>
            <a:endParaRPr lang="en-US" sz="1250" dirty="0"/>
          </a:p>
        </p:txBody>
      </p:sp>
      <p:sp>
        <p:nvSpPr>
          <p:cNvPr id="13" name="Text 11"/>
          <p:cNvSpPr/>
          <p:nvPr/>
        </p:nvSpPr>
        <p:spPr>
          <a:xfrm>
            <a:off x="661475" y="4901505"/>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C9C2C0"/>
                </a:solidFill>
                <a:latin typeface="Gelasio Light" pitchFamily="34" charset="0"/>
                <a:ea typeface="Gelasio Light" pitchFamily="34" charset="-122"/>
                <a:cs typeface="Gelasio Light" pitchFamily="34" charset="-120"/>
              </a:rPr>
              <a:t>03</a:t>
            </a:r>
            <a:endParaRPr lang="en-US" sz="1250" dirty="0"/>
          </a:p>
        </p:txBody>
      </p:sp>
      <p:sp>
        <p:nvSpPr>
          <p:cNvPr id="14" name="Shape 12"/>
          <p:cNvSpPr/>
          <p:nvPr/>
        </p:nvSpPr>
        <p:spPr>
          <a:xfrm>
            <a:off x="661475" y="5155406"/>
            <a:ext cx="5238421" cy="19050"/>
          </a:xfrm>
          <a:prstGeom prst="rect">
            <a:avLst/>
          </a:prstGeom>
          <a:solidFill>
            <a:srgbClr val="C49F8C"/>
          </a:solidFill>
          <a:ln/>
        </p:spPr>
      </p:sp>
      <p:sp>
        <p:nvSpPr>
          <p:cNvPr id="15" name="Text 13"/>
          <p:cNvSpPr/>
          <p:nvPr/>
        </p:nvSpPr>
        <p:spPr>
          <a:xfrm>
            <a:off x="661475" y="5273774"/>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Marts &amp; KPIs</a:t>
            </a:r>
            <a:endParaRPr lang="en-US" sz="1550" dirty="0"/>
          </a:p>
        </p:txBody>
      </p:sp>
      <p:sp>
        <p:nvSpPr>
          <p:cNvPr id="16" name="Text 14"/>
          <p:cNvSpPr/>
          <p:nvPr/>
        </p:nvSpPr>
        <p:spPr>
          <a:xfrm>
            <a:off x="661475" y="5661323"/>
            <a:ext cx="5238421" cy="237728"/>
          </a:xfrm>
          <a:prstGeom prst="rect">
            <a:avLst/>
          </a:prstGeom>
          <a:noFill/>
          <a:ln/>
        </p:spPr>
        <p:txBody>
          <a:bodyPr wrap="none" lIns="0" tIns="0" rIns="0" bIns="0" rtlCol="0" anchor="t"/>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Business-facing aggregates and executive metrics</a:t>
            </a:r>
            <a:endParaRPr lang="en-US" sz="1250" dirty="0"/>
          </a:p>
        </p:txBody>
      </p:sp>
      <p:sp>
        <p:nvSpPr>
          <p:cNvPr id="17" name="Text 15"/>
          <p:cNvSpPr/>
          <p:nvPr/>
        </p:nvSpPr>
        <p:spPr>
          <a:xfrm>
            <a:off x="6298149" y="1987848"/>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dbt Folder Structure</a:t>
            </a:r>
            <a:endParaRPr lang="en-US" sz="1550" dirty="0"/>
          </a:p>
        </p:txBody>
      </p:sp>
      <p:sp>
        <p:nvSpPr>
          <p:cNvPr id="18" name="Shape 16"/>
          <p:cNvSpPr/>
          <p:nvPr/>
        </p:nvSpPr>
        <p:spPr>
          <a:xfrm>
            <a:off x="6298149" y="2392462"/>
            <a:ext cx="5238421" cy="2698552"/>
          </a:xfrm>
          <a:prstGeom prst="roundRect">
            <a:avLst>
              <a:gd name="adj" fmla="val 893"/>
            </a:avLst>
          </a:prstGeom>
          <a:solidFill>
            <a:srgbClr val="53504F"/>
          </a:solidFill>
          <a:ln/>
        </p:spPr>
      </p:sp>
      <p:sp>
        <p:nvSpPr>
          <p:cNvPr id="19" name="Shape 17"/>
          <p:cNvSpPr/>
          <p:nvPr/>
        </p:nvSpPr>
        <p:spPr>
          <a:xfrm>
            <a:off x="6290212" y="2392462"/>
            <a:ext cx="5254295" cy="2698552"/>
          </a:xfrm>
          <a:prstGeom prst="roundRect">
            <a:avLst>
              <a:gd name="adj" fmla="val 893"/>
            </a:avLst>
          </a:prstGeom>
          <a:solidFill>
            <a:srgbClr val="53504F"/>
          </a:solidFill>
          <a:ln/>
        </p:spPr>
      </p:sp>
      <p:sp>
        <p:nvSpPr>
          <p:cNvPr id="20" name="Text 18"/>
          <p:cNvSpPr/>
          <p:nvPr/>
        </p:nvSpPr>
        <p:spPr>
          <a:xfrm>
            <a:off x="6491026" y="2553097"/>
            <a:ext cx="4852668" cy="2377281"/>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models/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staging/</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dimensions/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facts/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marts/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kpi/</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macros/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tests/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snapshots/</a:t>
            </a:r>
            <a:endParaRPr lang="en-US" sz="1250" dirty="0"/>
          </a:p>
          <a:p>
            <a:pPr algn="l" indent="0" marL="0">
              <a:lnSpc>
                <a:spcPct val="123000"/>
              </a:lnSpc>
              <a:buNone/>
            </a:pPr>
            <a:r>
              <a:rPr lang="en-US" sz="1250" dirty="0">
                <a:solidFill>
                  <a:srgbClr val="C9C2C0"/>
                </a:solidFill>
                <a:highlight>
                  <a:srgbClr val="53504F"/>
                </a:highlight>
                <a:latin typeface="Consolas" pitchFamily="34" charset="0"/>
                <a:ea typeface="Consolas" pitchFamily="34" charset="-122"/>
                <a:cs typeface="Consolas" pitchFamily="34" charset="-120"/>
              </a:rPr>
              <a:t>└── seeds/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30225"/>
            <a:ext cx="10868745" cy="263922"/>
          </a:xfrm>
          <a:prstGeom prst="rect">
            <a:avLst/>
          </a:prstGeom>
          <a:noFill/>
          <a:ln/>
        </p:spPr>
        <p:txBody>
          <a:bodyPr wrap="none" lIns="0" tIns="0" rIns="0" bIns="0" rtlCol="0" anchor="t"/>
          <a:lstStyle/>
          <a:p>
            <a:pPr algn="l" indent="0" marL="0">
              <a:lnSpc>
                <a:spcPct val="104000"/>
              </a:lnSpc>
              <a:buNone/>
            </a:pPr>
            <a:r>
              <a:rPr lang="en-US" sz="1650" dirty="0">
                <a:solidFill>
                  <a:srgbClr val="D8B6A4"/>
                </a:solidFill>
                <a:latin typeface="Gelasio" pitchFamily="34" charset="0"/>
                <a:ea typeface="Gelasio" pitchFamily="34" charset="-122"/>
                <a:cs typeface="Gelasio" pitchFamily="34" charset="-120"/>
              </a:rPr>
              <a:t>Star Schema Design</a:t>
            </a:r>
            <a:endParaRPr lang="en-US" sz="1650" dirty="0"/>
          </a:p>
        </p:txBody>
      </p:sp>
      <p:sp>
        <p:nvSpPr>
          <p:cNvPr id="3" name="Text 1"/>
          <p:cNvSpPr/>
          <p:nvPr/>
        </p:nvSpPr>
        <p:spPr>
          <a:xfrm>
            <a:off x="661475" y="869553"/>
            <a:ext cx="11478330" cy="97730"/>
          </a:xfrm>
          <a:prstGeom prst="rect">
            <a:avLst/>
          </a:prstGeom>
          <a:noFill/>
          <a:ln/>
        </p:spPr>
        <p:txBody>
          <a:bodyPr wrap="none" lIns="0" tIns="0" rIns="0" bIns="0" rtlCol="0" anchor="t"/>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The star schema is a foundational design pattern for data warehousing, optimizing for query performance and intuitive understanding of business data. It organizes data into fact tables (containing measures) and dimension tables (containing descriptive attributes).</a:t>
            </a:r>
            <a:endParaRPr lang="en-US" sz="6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8775" y="997049"/>
            <a:ext cx="3604130" cy="473174"/>
          </a:xfrm>
          <a:prstGeom prst="rect">
            <a:avLst/>
          </a:prstGeom>
        </p:spPr>
      </p:pic>
      <p:sp>
        <p:nvSpPr>
          <p:cNvPr id="5" name="Text 2"/>
          <p:cNvSpPr/>
          <p:nvPr/>
        </p:nvSpPr>
        <p:spPr>
          <a:xfrm>
            <a:off x="771307" y="1009749"/>
            <a:ext cx="3481598" cy="131961"/>
          </a:xfrm>
          <a:prstGeom prst="rect">
            <a:avLst/>
          </a:prstGeom>
          <a:noFill/>
          <a:ln/>
        </p:spPr>
        <p:txBody>
          <a:bodyPr wrap="none" lIns="0" tIns="0" rIns="0" bIns="0" rtlCol="0" anchor="t"/>
          <a:lstStyle/>
          <a:p>
            <a:pPr algn="l" indent="0" marL="0">
              <a:lnSpc>
                <a:spcPct val="104000"/>
              </a:lnSpc>
              <a:buNone/>
            </a:pPr>
            <a:r>
              <a:rPr lang="en-US" sz="800" dirty="0">
                <a:solidFill>
                  <a:srgbClr val="C9C2C0"/>
                </a:solidFill>
                <a:latin typeface="Gelasio" pitchFamily="34" charset="0"/>
                <a:ea typeface="Gelasio" pitchFamily="34" charset="-122"/>
                <a:cs typeface="Gelasio" pitchFamily="34" charset="-120"/>
              </a:rPr>
              <a:t>Conformed Dimensions</a:t>
            </a:r>
            <a:endParaRPr lang="en-US" sz="800" dirty="0"/>
          </a:p>
        </p:txBody>
      </p:sp>
      <p:sp>
        <p:nvSpPr>
          <p:cNvPr id="6" name="Text 3"/>
          <p:cNvSpPr/>
          <p:nvPr/>
        </p:nvSpPr>
        <p:spPr>
          <a:xfrm>
            <a:off x="771307" y="1164332"/>
            <a:ext cx="3481598" cy="293191"/>
          </a:xfrm>
          <a:prstGeom prst="rect">
            <a:avLst/>
          </a:prstGeom>
          <a:noFill/>
          <a:ln/>
        </p:spPr>
        <p:txBody>
          <a:bodyPr wrap="square" lIns="0" tIns="0" rIns="0" bIns="0" rtlCol="0" anchor="t">
            <a:normAutofit/>
          </a:bodyPr>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Dimensions used across multiple fact tables or data marts, ensuring consistent reporting and integration of data across different business processes. For example, a "Product" dimension should mean the same thing whether analyzing sales or returns.</a:t>
            </a:r>
            <a:endParaRPr lang="en-US" sz="6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87333" y="997049"/>
            <a:ext cx="3604229" cy="473174"/>
          </a:xfrm>
          <a:prstGeom prst="rect">
            <a:avLst/>
          </a:prstGeom>
        </p:spPr>
      </p:pic>
      <p:sp>
        <p:nvSpPr>
          <p:cNvPr id="8" name="Text 4"/>
          <p:cNvSpPr/>
          <p:nvPr/>
        </p:nvSpPr>
        <p:spPr>
          <a:xfrm>
            <a:off x="4409865" y="1009749"/>
            <a:ext cx="3481697" cy="131961"/>
          </a:xfrm>
          <a:prstGeom prst="rect">
            <a:avLst/>
          </a:prstGeom>
          <a:noFill/>
          <a:ln/>
        </p:spPr>
        <p:txBody>
          <a:bodyPr wrap="none" lIns="0" tIns="0" rIns="0" bIns="0" rtlCol="0" anchor="t"/>
          <a:lstStyle/>
          <a:p>
            <a:pPr algn="l" indent="0" marL="0">
              <a:lnSpc>
                <a:spcPct val="104000"/>
              </a:lnSpc>
              <a:buNone/>
            </a:pPr>
            <a:r>
              <a:rPr lang="en-US" sz="800" dirty="0">
                <a:solidFill>
                  <a:srgbClr val="C9C2C0"/>
                </a:solidFill>
                <a:latin typeface="Gelasio" pitchFamily="34" charset="0"/>
                <a:ea typeface="Gelasio" pitchFamily="34" charset="-122"/>
                <a:cs typeface="Gelasio" pitchFamily="34" charset="-120"/>
              </a:rPr>
              <a:t>SCD Type 1 (Overwrite)</a:t>
            </a:r>
            <a:endParaRPr lang="en-US" sz="800" dirty="0"/>
          </a:p>
        </p:txBody>
      </p:sp>
      <p:sp>
        <p:nvSpPr>
          <p:cNvPr id="9" name="Text 5"/>
          <p:cNvSpPr/>
          <p:nvPr/>
        </p:nvSpPr>
        <p:spPr>
          <a:xfrm>
            <a:off x="4409865" y="1164332"/>
            <a:ext cx="3481697" cy="293191"/>
          </a:xfrm>
          <a:prstGeom prst="rect">
            <a:avLst/>
          </a:prstGeom>
          <a:noFill/>
          <a:ln/>
        </p:spPr>
        <p:txBody>
          <a:bodyPr wrap="square" lIns="0" tIns="0" rIns="0" bIns="0" rtlCol="0" anchor="t">
            <a:normAutofit/>
          </a:bodyPr>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Slowly Changing Dimension Type 1 handles changes by </a:t>
            </a:r>
            <a:pPr algn="l" indent="0" marL="0">
              <a:lnSpc>
                <a:spcPct val="96000"/>
              </a:lnSpc>
              <a:buNone/>
            </a:pPr>
            <a:r>
              <a:rPr lang="en-US" sz="650" b="1" dirty="0">
                <a:solidFill>
                  <a:srgbClr val="C9C2C0"/>
                </a:solidFill>
                <a:latin typeface="Gelasio Bold" pitchFamily="34" charset="0"/>
                <a:ea typeface="Gelasio Bold" pitchFamily="34" charset="-122"/>
                <a:cs typeface="Gelasio Bold" pitchFamily="34" charset="-120"/>
              </a:rPr>
              <a:t>overwriting the existing dimension record</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This method is simple but loses historical data for the changed attribute. Only the current state is preserved.</a:t>
            </a:r>
            <a:endParaRPr lang="en-US" sz="6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25991" y="997049"/>
            <a:ext cx="3604229" cy="473174"/>
          </a:xfrm>
          <a:prstGeom prst="rect">
            <a:avLst/>
          </a:prstGeom>
        </p:spPr>
      </p:pic>
      <p:sp>
        <p:nvSpPr>
          <p:cNvPr id="11" name="Text 6"/>
          <p:cNvSpPr/>
          <p:nvPr/>
        </p:nvSpPr>
        <p:spPr>
          <a:xfrm>
            <a:off x="8048523" y="1009749"/>
            <a:ext cx="3481697" cy="131961"/>
          </a:xfrm>
          <a:prstGeom prst="rect">
            <a:avLst/>
          </a:prstGeom>
          <a:noFill/>
          <a:ln/>
        </p:spPr>
        <p:txBody>
          <a:bodyPr wrap="none" lIns="0" tIns="0" rIns="0" bIns="0" rtlCol="0" anchor="t"/>
          <a:lstStyle/>
          <a:p>
            <a:pPr algn="l" indent="0" marL="0">
              <a:lnSpc>
                <a:spcPct val="104000"/>
              </a:lnSpc>
              <a:buNone/>
            </a:pPr>
            <a:r>
              <a:rPr lang="en-US" sz="800" dirty="0">
                <a:solidFill>
                  <a:srgbClr val="C9C2C0"/>
                </a:solidFill>
                <a:latin typeface="Gelasio" pitchFamily="34" charset="0"/>
                <a:ea typeface="Gelasio" pitchFamily="34" charset="-122"/>
                <a:cs typeface="Gelasio" pitchFamily="34" charset="-120"/>
              </a:rPr>
              <a:t>SCD Type 2 (New Row)</a:t>
            </a:r>
            <a:endParaRPr lang="en-US" sz="800" dirty="0"/>
          </a:p>
        </p:txBody>
      </p:sp>
      <p:sp>
        <p:nvSpPr>
          <p:cNvPr id="12" name="Text 7"/>
          <p:cNvSpPr/>
          <p:nvPr/>
        </p:nvSpPr>
        <p:spPr>
          <a:xfrm>
            <a:off x="8048523" y="1164332"/>
            <a:ext cx="3481697" cy="293191"/>
          </a:xfrm>
          <a:prstGeom prst="rect">
            <a:avLst/>
          </a:prstGeom>
          <a:noFill/>
          <a:ln/>
        </p:spPr>
        <p:txBody>
          <a:bodyPr wrap="square" lIns="0" tIns="0" rIns="0" bIns="0" rtlCol="0" anchor="t">
            <a:normAutofit/>
          </a:bodyPr>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SCD Type 2 preserves historical data by </a:t>
            </a:r>
            <a:pPr algn="l" indent="0" marL="0">
              <a:lnSpc>
                <a:spcPct val="96000"/>
              </a:lnSpc>
              <a:buNone/>
            </a:pPr>
            <a:r>
              <a:rPr lang="en-US" sz="650" b="1" dirty="0">
                <a:solidFill>
                  <a:srgbClr val="C9C2C0"/>
                </a:solidFill>
                <a:latin typeface="Gelasio Bold" pitchFamily="34" charset="0"/>
                <a:ea typeface="Gelasio Bold" pitchFamily="34" charset="-122"/>
                <a:cs typeface="Gelasio Bold" pitchFamily="34" charset="-120"/>
              </a:rPr>
              <a:t>creating a new record</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for each change in a dimension attribute. The old record is marked as inactive, and the new record becomes active, often with start and end dates.</a:t>
            </a:r>
            <a:endParaRPr lang="en-US" sz="6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8775" y="1520230"/>
            <a:ext cx="5423459" cy="375444"/>
          </a:xfrm>
          <a:prstGeom prst="rect">
            <a:avLst/>
          </a:prstGeom>
        </p:spPr>
      </p:pic>
      <p:sp>
        <p:nvSpPr>
          <p:cNvPr id="14" name="Text 8"/>
          <p:cNvSpPr/>
          <p:nvPr/>
        </p:nvSpPr>
        <p:spPr>
          <a:xfrm>
            <a:off x="771307" y="1532930"/>
            <a:ext cx="5300927" cy="131961"/>
          </a:xfrm>
          <a:prstGeom prst="rect">
            <a:avLst/>
          </a:prstGeom>
          <a:noFill/>
          <a:ln/>
        </p:spPr>
        <p:txBody>
          <a:bodyPr wrap="none" lIns="0" tIns="0" rIns="0" bIns="0" rtlCol="0" anchor="t"/>
          <a:lstStyle/>
          <a:p>
            <a:pPr algn="l" indent="0" marL="0">
              <a:lnSpc>
                <a:spcPct val="104000"/>
              </a:lnSpc>
              <a:buNone/>
            </a:pPr>
            <a:r>
              <a:rPr lang="en-US" sz="800" dirty="0">
                <a:solidFill>
                  <a:srgbClr val="C9C2C0"/>
                </a:solidFill>
                <a:latin typeface="Gelasio" pitchFamily="34" charset="0"/>
                <a:ea typeface="Gelasio" pitchFamily="34" charset="-122"/>
                <a:cs typeface="Gelasio" pitchFamily="34" charset="-120"/>
              </a:rPr>
              <a:t>Fact Table Grain</a:t>
            </a:r>
            <a:endParaRPr lang="en-US" sz="800" dirty="0"/>
          </a:p>
        </p:txBody>
      </p:sp>
      <p:sp>
        <p:nvSpPr>
          <p:cNvPr id="15" name="Text 9"/>
          <p:cNvSpPr/>
          <p:nvPr/>
        </p:nvSpPr>
        <p:spPr>
          <a:xfrm>
            <a:off x="771307" y="1687513"/>
            <a:ext cx="5300927" cy="195461"/>
          </a:xfrm>
          <a:prstGeom prst="rect">
            <a:avLst/>
          </a:prstGeom>
          <a:noFill/>
          <a:ln/>
        </p:spPr>
        <p:txBody>
          <a:bodyPr wrap="square" lIns="0" tIns="0" rIns="0" bIns="0" rtlCol="0" anchor="t">
            <a:normAutofit/>
          </a:bodyPr>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The </a:t>
            </a:r>
            <a:pPr algn="l" indent="0" marL="0">
              <a:lnSpc>
                <a:spcPct val="96000"/>
              </a:lnSpc>
              <a:buNone/>
            </a:pPr>
            <a:r>
              <a:rPr lang="en-US" sz="650" b="1" dirty="0">
                <a:solidFill>
                  <a:srgbClr val="C9C2C0"/>
                </a:solidFill>
                <a:latin typeface="Gelasio Bold" pitchFamily="34" charset="0"/>
                <a:ea typeface="Gelasio Bold" pitchFamily="34" charset="-122"/>
                <a:cs typeface="Gelasio Bold" pitchFamily="34" charset="-120"/>
              </a:rPr>
              <a:t>lowest level of detail</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in a fact table. It defines what a single row in the fact table represents (e.g., a single line item on an order, a single daily temperature reading). This determines the level at which analysis can be performed.</a:t>
            </a:r>
            <a:endParaRPr lang="en-US" sz="6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06662" y="1520230"/>
            <a:ext cx="5423558" cy="375444"/>
          </a:xfrm>
          <a:prstGeom prst="rect">
            <a:avLst/>
          </a:prstGeom>
        </p:spPr>
      </p:pic>
      <p:sp>
        <p:nvSpPr>
          <p:cNvPr id="17" name="Text 10"/>
          <p:cNvSpPr/>
          <p:nvPr/>
        </p:nvSpPr>
        <p:spPr>
          <a:xfrm>
            <a:off x="6229194" y="1532930"/>
            <a:ext cx="5301026" cy="131961"/>
          </a:xfrm>
          <a:prstGeom prst="rect">
            <a:avLst/>
          </a:prstGeom>
          <a:noFill/>
          <a:ln/>
        </p:spPr>
        <p:txBody>
          <a:bodyPr wrap="none" lIns="0" tIns="0" rIns="0" bIns="0" rtlCol="0" anchor="t"/>
          <a:lstStyle/>
          <a:p>
            <a:pPr algn="l" indent="0" marL="0">
              <a:lnSpc>
                <a:spcPct val="104000"/>
              </a:lnSpc>
              <a:buNone/>
            </a:pPr>
            <a:r>
              <a:rPr lang="en-US" sz="800" dirty="0">
                <a:solidFill>
                  <a:srgbClr val="C9C2C0"/>
                </a:solidFill>
                <a:latin typeface="Gelasio" pitchFamily="34" charset="0"/>
                <a:ea typeface="Gelasio" pitchFamily="34" charset="-122"/>
                <a:cs typeface="Gelasio" pitchFamily="34" charset="-120"/>
              </a:rPr>
              <a:t>Surrogate Keys</a:t>
            </a:r>
            <a:endParaRPr lang="en-US" sz="800" dirty="0"/>
          </a:p>
        </p:txBody>
      </p:sp>
      <p:sp>
        <p:nvSpPr>
          <p:cNvPr id="18" name="Text 11"/>
          <p:cNvSpPr/>
          <p:nvPr/>
        </p:nvSpPr>
        <p:spPr>
          <a:xfrm>
            <a:off x="6229194" y="1687513"/>
            <a:ext cx="5301026" cy="195461"/>
          </a:xfrm>
          <a:prstGeom prst="rect">
            <a:avLst/>
          </a:prstGeom>
          <a:noFill/>
          <a:ln/>
        </p:spPr>
        <p:txBody>
          <a:bodyPr wrap="square" lIns="0" tIns="0" rIns="0" bIns="0" rtlCol="0" anchor="t">
            <a:normAutofit/>
          </a:bodyPr>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System-generated, simple integer keys assigned to dimension tables. They are independent of the source system's natural keys, allowing for efficient joins, managing SCD Type 2 changes, and isolating the warehouse from source system changes.</a:t>
            </a:r>
            <a:endParaRPr lang="en-US" sz="650" dirty="0"/>
          </a:p>
        </p:txBody>
      </p:sp>
      <p:sp>
        <p:nvSpPr>
          <p:cNvPr id="19" name="Text 12"/>
          <p:cNvSpPr/>
          <p:nvPr/>
        </p:nvSpPr>
        <p:spPr>
          <a:xfrm>
            <a:off x="661475" y="1939528"/>
            <a:ext cx="10868745" cy="211138"/>
          </a:xfrm>
          <a:prstGeom prst="rect">
            <a:avLst/>
          </a:prstGeom>
          <a:noFill/>
          <a:ln/>
        </p:spPr>
        <p:txBody>
          <a:bodyPr wrap="none" lIns="0" tIns="0" rIns="0" bIns="0" rtlCol="0" anchor="t"/>
          <a:lstStyle/>
          <a:p>
            <a:pPr algn="l" indent="0" marL="0">
              <a:lnSpc>
                <a:spcPct val="104000"/>
              </a:lnSpc>
              <a:buNone/>
            </a:pPr>
            <a:r>
              <a:rPr lang="en-US" sz="1300" dirty="0">
                <a:solidFill>
                  <a:srgbClr val="D8B6A4"/>
                </a:solidFill>
                <a:latin typeface="Gelasio" pitchFamily="34" charset="0"/>
                <a:ea typeface="Gelasio" pitchFamily="34" charset="-122"/>
                <a:cs typeface="Gelasio" pitchFamily="34" charset="-120"/>
              </a:rPr>
              <a:t>Core Star Schema Model</a:t>
            </a:r>
            <a:endParaRPr lang="en-US" sz="1300" dirty="0"/>
          </a:p>
        </p:txBody>
      </p:sp>
      <p:pic>
        <p:nvPicPr>
          <p:cNvPr id="20" name="Image 5" descr="preencoded.png">    </p:cNvPr>
          <p:cNvPicPr>
            <a:picLocks noChangeAspect="1"/>
          </p:cNvPicPr>
          <p:nvPr/>
        </p:nvPicPr>
        <p:blipFill>
          <a:blip r:embed="rId11"/>
          <a:stretch>
            <a:fillRect/>
          </a:stretch>
        </p:blipFill>
        <p:spPr>
          <a:xfrm>
            <a:off x="661475" y="2207220"/>
            <a:ext cx="7064595" cy="3973909"/>
          </a:xfrm>
          <a:prstGeom prst="rect">
            <a:avLst/>
          </a:prstGeom>
        </p:spPr>
      </p:pic>
      <p:sp>
        <p:nvSpPr>
          <p:cNvPr id="21" name="Text 13"/>
          <p:cNvSpPr/>
          <p:nvPr/>
        </p:nvSpPr>
        <p:spPr>
          <a:xfrm>
            <a:off x="661475" y="6223595"/>
            <a:ext cx="11478330" cy="104080"/>
          </a:xfrm>
          <a:prstGeom prst="rect">
            <a:avLst/>
          </a:prstGeom>
          <a:noFill/>
          <a:ln/>
        </p:spPr>
        <p:txBody>
          <a:bodyPr wrap="none" lIns="0" tIns="0" rIns="0" bIns="0" rtlCol="0" anchor="t"/>
          <a:lstStyle/>
          <a:p>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Our star schema centers on the </a:t>
            </a:r>
            <a:pPr algn="l" indent="0" marL="0">
              <a:lnSpc>
                <a:spcPct val="96000"/>
              </a:lnSpc>
              <a:buNone/>
            </a:pPr>
            <a:r>
              <a:rPr lang="en-US" sz="650" dirty="0">
                <a:solidFill>
                  <a:srgbClr val="C9C2C0"/>
                </a:solidFill>
                <a:highlight>
                  <a:srgbClr val="53504F"/>
                </a:highlight>
                <a:latin typeface="Consolas" pitchFamily="34" charset="0"/>
                <a:ea typeface="Consolas" pitchFamily="34" charset="-122"/>
                <a:cs typeface="Consolas" pitchFamily="34" charset="-120"/>
              </a:rPr>
              <a:t>fact_orders</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table, linking key dimensions for </a:t>
            </a:r>
            <a:pPr algn="l" indent="0" marL="0">
              <a:lnSpc>
                <a:spcPct val="96000"/>
              </a:lnSpc>
              <a:buNone/>
            </a:pPr>
            <a:r>
              <a:rPr lang="en-US" sz="650" dirty="0">
                <a:solidFill>
                  <a:srgbClr val="C9C2C0"/>
                </a:solidFill>
                <a:highlight>
                  <a:srgbClr val="53504F"/>
                </a:highlight>
                <a:latin typeface="Consolas" pitchFamily="34" charset="0"/>
                <a:ea typeface="Consolas" pitchFamily="34" charset="-122"/>
                <a:cs typeface="Consolas" pitchFamily="34" charset="-120"/>
              </a:rPr>
              <a:t>customers</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a:t>
            </a:r>
            <a:pPr algn="l" indent="0" marL="0">
              <a:lnSpc>
                <a:spcPct val="96000"/>
              </a:lnSpc>
              <a:buNone/>
            </a:pPr>
            <a:r>
              <a:rPr lang="en-US" sz="650" dirty="0">
                <a:solidFill>
                  <a:srgbClr val="C9C2C0"/>
                </a:solidFill>
                <a:highlight>
                  <a:srgbClr val="53504F"/>
                </a:highlight>
                <a:latin typeface="Consolas" pitchFamily="34" charset="0"/>
                <a:ea typeface="Consolas" pitchFamily="34" charset="-122"/>
                <a:cs typeface="Consolas" pitchFamily="34" charset="-120"/>
              </a:rPr>
              <a:t>products</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and </a:t>
            </a:r>
            <a:pPr algn="l" indent="0" marL="0">
              <a:lnSpc>
                <a:spcPct val="96000"/>
              </a:lnSpc>
              <a:buNone/>
            </a:pPr>
            <a:r>
              <a:rPr lang="en-US" sz="650" dirty="0">
                <a:solidFill>
                  <a:srgbClr val="C9C2C0"/>
                </a:solidFill>
                <a:highlight>
                  <a:srgbClr val="53504F"/>
                </a:highlight>
                <a:latin typeface="Consolas" pitchFamily="34" charset="0"/>
                <a:ea typeface="Consolas" pitchFamily="34" charset="-122"/>
                <a:cs typeface="Consolas" pitchFamily="34" charset="-120"/>
              </a:rPr>
              <a:t>date</a:t>
            </a:r>
            <a:pPr algn="l" indent="0" marL="0">
              <a:lnSpc>
                <a:spcPct val="96000"/>
              </a:lnSpc>
              <a:buNone/>
            </a:pPr>
            <a:r>
              <a:rPr lang="en-US" sz="650" dirty="0">
                <a:solidFill>
                  <a:srgbClr val="C9C2C0"/>
                </a:solidFill>
                <a:latin typeface="Gelasio" pitchFamily="34" charset="0"/>
                <a:ea typeface="Gelasio" pitchFamily="34" charset="-122"/>
                <a:cs typeface="Gelasio" pitchFamily="34" charset="-120"/>
              </a:rPr>
              <a:t> to enable powerful analytical queries.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98984"/>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D8B6A4"/>
                </a:solidFill>
                <a:latin typeface="Gelasio" pitchFamily="34" charset="0"/>
                <a:ea typeface="Gelasio" pitchFamily="34" charset="-122"/>
                <a:cs typeface="Gelasio" pitchFamily="34" charset="-120"/>
              </a:rPr>
              <a:t>Data Quality &amp; Slack Notifications</a:t>
            </a:r>
            <a:endParaRPr lang="en-US" sz="3300" dirty="0"/>
          </a:p>
        </p:txBody>
      </p:sp>
      <p:sp>
        <p:nvSpPr>
          <p:cNvPr id="3" name="Text 1"/>
          <p:cNvSpPr/>
          <p:nvPr/>
        </p:nvSpPr>
        <p:spPr>
          <a:xfrm>
            <a:off x="661475" y="1436787"/>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Every pipeline stage includes </a:t>
            </a:r>
            <a:pPr algn="l" indent="0" marL="0">
              <a:lnSpc>
                <a:spcPct val="127000"/>
              </a:lnSpc>
              <a:buNone/>
            </a:pPr>
            <a:r>
              <a:rPr lang="en-US" sz="1300" b="1" dirty="0">
                <a:solidFill>
                  <a:srgbClr val="C9C2C0"/>
                </a:solidFill>
                <a:latin typeface="Gelasio Bold" pitchFamily="34" charset="0"/>
                <a:ea typeface="Gelasio Bold" pitchFamily="34" charset="-122"/>
                <a:cs typeface="Gelasio Bold" pitchFamily="34" charset="-120"/>
              </a:rPr>
              <a:t>automated quality checks</a:t>
            </a:r>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 and </a:t>
            </a:r>
            <a:pPr algn="l" indent="0" marL="0">
              <a:lnSpc>
                <a:spcPct val="127000"/>
              </a:lnSpc>
              <a:buNone/>
            </a:pPr>
            <a:r>
              <a:rPr lang="en-US" sz="1300" b="1" dirty="0">
                <a:solidFill>
                  <a:srgbClr val="C9C2C0"/>
                </a:solidFill>
                <a:latin typeface="Gelasio Bold" pitchFamily="34" charset="0"/>
                <a:ea typeface="Gelasio Bold" pitchFamily="34" charset="-122"/>
                <a:cs typeface="Gelasio Bold" pitchFamily="34" charset="-120"/>
              </a:rPr>
              <a:t>Slack alerts</a:t>
            </a:r>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 — failures caught before they reach the dashboard.</a:t>
            </a:r>
            <a:endParaRPr lang="en-US" sz="1300" dirty="0"/>
          </a:p>
        </p:txBody>
      </p:sp>
      <p:sp>
        <p:nvSpPr>
          <p:cNvPr id="4" name="Text 2"/>
          <p:cNvSpPr/>
          <p:nvPr/>
        </p:nvSpPr>
        <p:spPr>
          <a:xfrm>
            <a:off x="661475" y="2020689"/>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D8B6A4"/>
                </a:solidFill>
                <a:latin typeface="Gelasio" pitchFamily="34" charset="0"/>
                <a:ea typeface="Gelasio" pitchFamily="34" charset="-122"/>
                <a:cs typeface="Gelasio" pitchFamily="34" charset="-120"/>
              </a:rPr>
              <a:t>Data Quality Tests</a:t>
            </a:r>
            <a:endParaRPr lang="en-US" sz="16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5271" y="2463850"/>
            <a:ext cx="255085" cy="255091"/>
          </a:xfrm>
          <a:prstGeom prst="rect">
            <a:avLst/>
          </a:prstGeom>
        </p:spPr>
      </p:pic>
      <p:sp>
        <p:nvSpPr>
          <p:cNvPr id="6" name="Text 3"/>
          <p:cNvSpPr/>
          <p:nvPr/>
        </p:nvSpPr>
        <p:spPr>
          <a:xfrm>
            <a:off x="1214209" y="2458641"/>
            <a:ext cx="4674178"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Null Checks</a:t>
            </a:r>
            <a:endParaRPr lang="en-US" sz="1650" dirty="0"/>
          </a:p>
        </p:txBody>
      </p:sp>
      <p:sp>
        <p:nvSpPr>
          <p:cNvPr id="7" name="Text 4"/>
          <p:cNvSpPr/>
          <p:nvPr/>
        </p:nvSpPr>
        <p:spPr>
          <a:xfrm>
            <a:off x="1214209" y="2877443"/>
            <a:ext cx="4674178"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Key columns validated for unexpected nulls</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5271" y="3447405"/>
            <a:ext cx="255085" cy="255091"/>
          </a:xfrm>
          <a:prstGeom prst="rect">
            <a:avLst/>
          </a:prstGeom>
        </p:spPr>
      </p:pic>
      <p:sp>
        <p:nvSpPr>
          <p:cNvPr id="9" name="Text 5"/>
          <p:cNvSpPr/>
          <p:nvPr/>
        </p:nvSpPr>
        <p:spPr>
          <a:xfrm>
            <a:off x="1214209" y="3442196"/>
            <a:ext cx="4674178"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Duplicate Checks</a:t>
            </a:r>
            <a:endParaRPr lang="en-US" sz="1650" dirty="0"/>
          </a:p>
        </p:txBody>
      </p:sp>
      <p:sp>
        <p:nvSpPr>
          <p:cNvPr id="10" name="Text 6"/>
          <p:cNvSpPr/>
          <p:nvPr/>
        </p:nvSpPr>
        <p:spPr>
          <a:xfrm>
            <a:off x="1214209" y="3860998"/>
            <a:ext cx="4674178"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Primary keys verified unique across tables</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271" y="4430961"/>
            <a:ext cx="255085" cy="255091"/>
          </a:xfrm>
          <a:prstGeom prst="rect">
            <a:avLst/>
          </a:prstGeom>
        </p:spPr>
      </p:pic>
      <p:sp>
        <p:nvSpPr>
          <p:cNvPr id="12" name="Text 7"/>
          <p:cNvSpPr/>
          <p:nvPr/>
        </p:nvSpPr>
        <p:spPr>
          <a:xfrm>
            <a:off x="1214209" y="4425752"/>
            <a:ext cx="4674178"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Relationship Tests</a:t>
            </a:r>
            <a:endParaRPr lang="en-US" sz="1650" dirty="0"/>
          </a:p>
        </p:txBody>
      </p:sp>
      <p:sp>
        <p:nvSpPr>
          <p:cNvPr id="13" name="Text 8"/>
          <p:cNvSpPr/>
          <p:nvPr/>
        </p:nvSpPr>
        <p:spPr>
          <a:xfrm>
            <a:off x="1214209" y="4844554"/>
            <a:ext cx="4674178"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Foreign key integrity between facts and dimensions</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5271" y="5414516"/>
            <a:ext cx="255085" cy="255091"/>
          </a:xfrm>
          <a:prstGeom prst="rect">
            <a:avLst/>
          </a:prstGeom>
        </p:spPr>
      </p:pic>
      <p:sp>
        <p:nvSpPr>
          <p:cNvPr id="15" name="Text 9"/>
          <p:cNvSpPr/>
          <p:nvPr/>
        </p:nvSpPr>
        <p:spPr>
          <a:xfrm>
            <a:off x="1214209" y="5409307"/>
            <a:ext cx="4674178"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Schema &amp; Row Count</a:t>
            </a:r>
            <a:endParaRPr lang="en-US" sz="1650" dirty="0"/>
          </a:p>
        </p:txBody>
      </p:sp>
      <p:sp>
        <p:nvSpPr>
          <p:cNvPr id="16" name="Text 10"/>
          <p:cNvSpPr/>
          <p:nvPr/>
        </p:nvSpPr>
        <p:spPr>
          <a:xfrm>
            <a:off x="1214209" y="5828109"/>
            <a:ext cx="4674178"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Column types and volumes validated per run</a:t>
            </a:r>
            <a:endParaRPr lang="en-US" sz="1300" dirty="0"/>
          </a:p>
        </p:txBody>
      </p:sp>
      <p:sp>
        <p:nvSpPr>
          <p:cNvPr id="17" name="Text 11"/>
          <p:cNvSpPr/>
          <p:nvPr/>
        </p:nvSpPr>
        <p:spPr>
          <a:xfrm>
            <a:off x="6309659" y="2020689"/>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D8B6A4"/>
                </a:solidFill>
                <a:latin typeface="Gelasio" pitchFamily="34" charset="0"/>
                <a:ea typeface="Gelasio" pitchFamily="34" charset="-122"/>
                <a:cs typeface="Gelasio" pitchFamily="34" charset="-120"/>
              </a:rPr>
              <a:t>Slack Pipeline Alerts</a:t>
            </a:r>
            <a:endParaRPr lang="en-US" sz="1650" dirty="0"/>
          </a:p>
        </p:txBody>
      </p:sp>
      <p:sp>
        <p:nvSpPr>
          <p:cNvPr id="18" name="Shape 12"/>
          <p:cNvSpPr/>
          <p:nvPr/>
        </p:nvSpPr>
        <p:spPr>
          <a:xfrm>
            <a:off x="6309659" y="2458641"/>
            <a:ext cx="5226911" cy="2577505"/>
          </a:xfrm>
          <a:prstGeom prst="roundRect">
            <a:avLst>
              <a:gd name="adj" fmla="val 990"/>
            </a:avLst>
          </a:prstGeom>
          <a:solidFill>
            <a:srgbClr val="373433"/>
          </a:solidFill>
          <a:ln/>
        </p:spPr>
      </p:sp>
      <p:sp>
        <p:nvSpPr>
          <p:cNvPr id="19" name="Shape 13"/>
          <p:cNvSpPr/>
          <p:nvPr/>
        </p:nvSpPr>
        <p:spPr>
          <a:xfrm>
            <a:off x="6309659" y="2458641"/>
            <a:ext cx="2613456" cy="1288752"/>
          </a:xfrm>
          <a:prstGeom prst="rect">
            <a:avLst/>
          </a:prstGeom>
          <a:solidFill>
            <a:srgbClr val="373433"/>
          </a:solidFill>
          <a:ln/>
        </p:spPr>
      </p:sp>
      <p:sp>
        <p:nvSpPr>
          <p:cNvPr id="20" name="Text 14"/>
          <p:cNvSpPr/>
          <p:nvPr/>
        </p:nvSpPr>
        <p:spPr>
          <a:xfrm>
            <a:off x="6479715" y="2628702"/>
            <a:ext cx="2273342" cy="278408"/>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Gelasio" pitchFamily="34" charset="0"/>
                <a:ea typeface="Gelasio" pitchFamily="34" charset="-122"/>
                <a:cs typeface="Gelasio" pitchFamily="34" charset="-120"/>
              </a:rPr>
              <a:t>✅</a:t>
            </a:r>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 Bronze Success</a:t>
            </a:r>
            <a:endParaRPr lang="en-US" sz="1650" dirty="0"/>
          </a:p>
        </p:txBody>
      </p:sp>
      <p:sp>
        <p:nvSpPr>
          <p:cNvPr id="21" name="Text 15"/>
          <p:cNvSpPr/>
          <p:nvPr/>
        </p:nvSpPr>
        <p:spPr>
          <a:xfrm>
            <a:off x="6479715" y="3060204"/>
            <a:ext cx="2273342"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Records loaded, file count, timestamp</a:t>
            </a:r>
            <a:endParaRPr lang="en-US" sz="1300" dirty="0"/>
          </a:p>
        </p:txBody>
      </p:sp>
      <p:sp>
        <p:nvSpPr>
          <p:cNvPr id="22" name="Shape 16"/>
          <p:cNvSpPr/>
          <p:nvPr/>
        </p:nvSpPr>
        <p:spPr>
          <a:xfrm>
            <a:off x="8923114" y="2458641"/>
            <a:ext cx="2613456" cy="1288752"/>
          </a:xfrm>
          <a:prstGeom prst="rect">
            <a:avLst/>
          </a:prstGeom>
          <a:solidFill>
            <a:srgbClr val="373433"/>
          </a:solidFill>
          <a:ln/>
        </p:spPr>
      </p:sp>
      <p:sp>
        <p:nvSpPr>
          <p:cNvPr id="23" name="Shape 17"/>
          <p:cNvSpPr/>
          <p:nvPr/>
        </p:nvSpPr>
        <p:spPr>
          <a:xfrm>
            <a:off x="8923114" y="2458641"/>
            <a:ext cx="19050" cy="1288752"/>
          </a:xfrm>
          <a:prstGeom prst="roundRect">
            <a:avLst>
              <a:gd name="adj" fmla="val 133950"/>
            </a:avLst>
          </a:prstGeom>
          <a:solidFill>
            <a:srgbClr val="504D4C"/>
          </a:solidFill>
          <a:ln/>
        </p:spPr>
      </p:sp>
      <p:sp>
        <p:nvSpPr>
          <p:cNvPr id="24" name="Text 18"/>
          <p:cNvSpPr/>
          <p:nvPr/>
        </p:nvSpPr>
        <p:spPr>
          <a:xfrm>
            <a:off x="9093171" y="2628702"/>
            <a:ext cx="2273342" cy="278408"/>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Gelasio" pitchFamily="34" charset="0"/>
                <a:ea typeface="Gelasio" pitchFamily="34" charset="-122"/>
                <a:cs typeface="Gelasio" pitchFamily="34" charset="-120"/>
              </a:rPr>
              <a:t>✅</a:t>
            </a:r>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 Silver Success</a:t>
            </a:r>
            <a:endParaRPr lang="en-US" sz="1650" dirty="0"/>
          </a:p>
        </p:txBody>
      </p:sp>
      <p:sp>
        <p:nvSpPr>
          <p:cNvPr id="25" name="Text 19"/>
          <p:cNvSpPr/>
          <p:nvPr/>
        </p:nvSpPr>
        <p:spPr>
          <a:xfrm>
            <a:off x="9093171" y="3060204"/>
            <a:ext cx="2273342"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Cleansing complete, duplicates removed</a:t>
            </a:r>
            <a:endParaRPr lang="en-US" sz="1300" dirty="0"/>
          </a:p>
        </p:txBody>
      </p:sp>
      <p:sp>
        <p:nvSpPr>
          <p:cNvPr id="26" name="Shape 20"/>
          <p:cNvSpPr/>
          <p:nvPr/>
        </p:nvSpPr>
        <p:spPr>
          <a:xfrm>
            <a:off x="6309659" y="3747393"/>
            <a:ext cx="2613456" cy="1288752"/>
          </a:xfrm>
          <a:prstGeom prst="rect">
            <a:avLst/>
          </a:prstGeom>
          <a:solidFill>
            <a:srgbClr val="373433"/>
          </a:solidFill>
          <a:ln/>
        </p:spPr>
      </p:sp>
      <p:sp>
        <p:nvSpPr>
          <p:cNvPr id="27" name="Shape 21"/>
          <p:cNvSpPr/>
          <p:nvPr/>
        </p:nvSpPr>
        <p:spPr>
          <a:xfrm>
            <a:off x="6309659" y="3747393"/>
            <a:ext cx="2613456" cy="19050"/>
          </a:xfrm>
          <a:prstGeom prst="roundRect">
            <a:avLst>
              <a:gd name="adj" fmla="val 133950"/>
            </a:avLst>
          </a:prstGeom>
          <a:solidFill>
            <a:srgbClr val="504D4C"/>
          </a:solidFill>
          <a:ln/>
        </p:spPr>
      </p:sp>
      <p:sp>
        <p:nvSpPr>
          <p:cNvPr id="28" name="Text 22"/>
          <p:cNvSpPr/>
          <p:nvPr/>
        </p:nvSpPr>
        <p:spPr>
          <a:xfrm>
            <a:off x="6479715" y="3917454"/>
            <a:ext cx="2273342" cy="278408"/>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Gelasio" pitchFamily="34" charset="0"/>
                <a:ea typeface="Gelasio" pitchFamily="34" charset="-122"/>
                <a:cs typeface="Gelasio" pitchFamily="34" charset="-120"/>
              </a:rPr>
              <a:t>✅</a:t>
            </a:r>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 Gold Success</a:t>
            </a:r>
            <a:endParaRPr lang="en-US" sz="1650" dirty="0"/>
          </a:p>
        </p:txBody>
      </p:sp>
      <p:sp>
        <p:nvSpPr>
          <p:cNvPr id="29" name="Text 23"/>
          <p:cNvSpPr/>
          <p:nvPr/>
        </p:nvSpPr>
        <p:spPr>
          <a:xfrm>
            <a:off x="6479715" y="4348956"/>
            <a:ext cx="2273342"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dbt models built, tests passed</a:t>
            </a:r>
            <a:endParaRPr lang="en-US" sz="1300" dirty="0"/>
          </a:p>
        </p:txBody>
      </p:sp>
      <p:sp>
        <p:nvSpPr>
          <p:cNvPr id="30" name="Shape 24"/>
          <p:cNvSpPr/>
          <p:nvPr/>
        </p:nvSpPr>
        <p:spPr>
          <a:xfrm>
            <a:off x="8923114" y="3747393"/>
            <a:ext cx="2613456" cy="1288752"/>
          </a:xfrm>
          <a:prstGeom prst="rect">
            <a:avLst/>
          </a:prstGeom>
          <a:solidFill>
            <a:srgbClr val="373433"/>
          </a:solidFill>
          <a:ln/>
        </p:spPr>
      </p:sp>
      <p:sp>
        <p:nvSpPr>
          <p:cNvPr id="31" name="Shape 25"/>
          <p:cNvSpPr/>
          <p:nvPr/>
        </p:nvSpPr>
        <p:spPr>
          <a:xfrm>
            <a:off x="8923114" y="3747393"/>
            <a:ext cx="19050" cy="1288752"/>
          </a:xfrm>
          <a:prstGeom prst="roundRect">
            <a:avLst>
              <a:gd name="adj" fmla="val 133950"/>
            </a:avLst>
          </a:prstGeom>
          <a:solidFill>
            <a:srgbClr val="504D4C"/>
          </a:solidFill>
          <a:ln/>
        </p:spPr>
      </p:sp>
      <p:sp>
        <p:nvSpPr>
          <p:cNvPr id="32" name="Shape 26"/>
          <p:cNvSpPr/>
          <p:nvPr/>
        </p:nvSpPr>
        <p:spPr>
          <a:xfrm>
            <a:off x="8923114" y="3747393"/>
            <a:ext cx="2613456" cy="19050"/>
          </a:xfrm>
          <a:prstGeom prst="roundRect">
            <a:avLst>
              <a:gd name="adj" fmla="val 133950"/>
            </a:avLst>
          </a:prstGeom>
          <a:solidFill>
            <a:srgbClr val="504D4C"/>
          </a:solidFill>
          <a:ln/>
        </p:spPr>
      </p:sp>
      <p:sp>
        <p:nvSpPr>
          <p:cNvPr id="33" name="Text 27"/>
          <p:cNvSpPr/>
          <p:nvPr/>
        </p:nvSpPr>
        <p:spPr>
          <a:xfrm>
            <a:off x="9093171" y="3917454"/>
            <a:ext cx="2273342" cy="278408"/>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Gelasio" pitchFamily="34" charset="0"/>
                <a:ea typeface="Gelasio" pitchFamily="34" charset="-122"/>
                <a:cs typeface="Gelasio" pitchFamily="34" charset="-120"/>
              </a:rPr>
              <a:t>🚨</a:t>
            </a:r>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 Failure Alert</a:t>
            </a:r>
            <a:endParaRPr lang="en-US" sz="1650" dirty="0"/>
          </a:p>
        </p:txBody>
      </p:sp>
      <p:sp>
        <p:nvSpPr>
          <p:cNvPr id="34" name="Text 28"/>
          <p:cNvSpPr/>
          <p:nvPr/>
        </p:nvSpPr>
        <p:spPr>
          <a:xfrm>
            <a:off x="9093171" y="4348956"/>
            <a:ext cx="2273342"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Error details, stage, and timestamp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3209"/>
            <a:ext cx="6296860" cy="413445"/>
          </a:xfrm>
          <a:prstGeom prst="rect">
            <a:avLst/>
          </a:prstGeom>
          <a:noFill/>
          <a:ln/>
        </p:spPr>
        <p:txBody>
          <a:bodyPr wrap="none" lIns="0" tIns="0" rIns="0" bIns="0" rtlCol="0" anchor="t"/>
          <a:lstStyle/>
          <a:p>
            <a:pPr algn="l" indent="0" marL="0">
              <a:lnSpc>
                <a:spcPct val="104000"/>
              </a:lnSpc>
              <a:buNone/>
            </a:pPr>
            <a:r>
              <a:rPr lang="en-US" sz="2600" dirty="0">
                <a:solidFill>
                  <a:srgbClr val="D8B6A4"/>
                </a:solidFill>
                <a:latin typeface="Gelasio" pitchFamily="34" charset="0"/>
                <a:ea typeface="Gelasio" pitchFamily="34" charset="-122"/>
                <a:cs typeface="Gelasio" pitchFamily="34" charset="-120"/>
              </a:rPr>
              <a:t>Incremental Models &amp; Snapshot Strategy</a:t>
            </a:r>
            <a:endParaRPr lang="en-US" sz="2600" dirty="0"/>
          </a:p>
        </p:txBody>
      </p:sp>
      <p:sp>
        <p:nvSpPr>
          <p:cNvPr id="4" name="Text 1"/>
          <p:cNvSpPr/>
          <p:nvPr/>
        </p:nvSpPr>
        <p:spPr>
          <a:xfrm>
            <a:off x="661475" y="1465560"/>
            <a:ext cx="6296860"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Optimize warehouse performance and manage historical data with dbt's intelligent materialization strategies.</a:t>
            </a:r>
            <a:endParaRPr lang="en-US" sz="10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929705"/>
            <a:ext cx="6296860" cy="937518"/>
          </a:xfrm>
          <a:prstGeom prst="rect">
            <a:avLst/>
          </a:prstGeom>
        </p:spPr>
      </p:pic>
      <p:sp>
        <p:nvSpPr>
          <p:cNvPr id="6" name="Text 2"/>
          <p:cNvSpPr/>
          <p:nvPr/>
        </p:nvSpPr>
        <p:spPr>
          <a:xfrm>
            <a:off x="888978" y="2081014"/>
            <a:ext cx="5918052"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Incremental Models</a:t>
            </a:r>
            <a:endParaRPr lang="en-US" sz="1300" dirty="0"/>
          </a:p>
        </p:txBody>
      </p:sp>
      <p:sp>
        <p:nvSpPr>
          <p:cNvPr id="7" name="Text 3"/>
          <p:cNvSpPr/>
          <p:nvPr/>
        </p:nvSpPr>
        <p:spPr>
          <a:xfrm>
            <a:off x="888978" y="2343249"/>
            <a:ext cx="5918052" cy="3726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Use </a:t>
            </a:r>
            <a:pPr algn="l" indent="0" marL="0">
              <a:lnSpc>
                <a:spcPct val="113000"/>
              </a:lnSpc>
              <a:buNone/>
            </a:pPr>
            <a:r>
              <a:rPr lang="en-US" sz="1000" dirty="0">
                <a:solidFill>
                  <a:srgbClr val="C9C2C0"/>
                </a:solidFill>
                <a:highlight>
                  <a:srgbClr val="53504F"/>
                </a:highlight>
                <a:latin typeface="Consolas" pitchFamily="34" charset="0"/>
                <a:ea typeface="Consolas" pitchFamily="34" charset="-122"/>
                <a:cs typeface="Consolas" pitchFamily="34" charset="-120"/>
              </a:rPr>
              <a:t>is_incremental()</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logic with a </a:t>
            </a:r>
            <a:pPr algn="l" indent="0" marL="0">
              <a:lnSpc>
                <a:spcPct val="113000"/>
              </a:lnSpc>
              <a:buNone/>
            </a:pPr>
            <a:r>
              <a:rPr lang="en-US" sz="1000" dirty="0">
                <a:solidFill>
                  <a:srgbClr val="C9C2C0"/>
                </a:solidFill>
                <a:highlight>
                  <a:srgbClr val="53504F"/>
                </a:highlight>
                <a:latin typeface="Consolas" pitchFamily="34" charset="0"/>
                <a:ea typeface="Consolas" pitchFamily="34" charset="-122"/>
                <a:cs typeface="Consolas" pitchFamily="34" charset="-120"/>
              </a:rPr>
              <a:t>unique_key</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to process only new or changed records, significantly reducing daily compute time.</a:t>
            </a:r>
            <a:endParaRPr lang="en-US" sz="10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59795"/>
            <a:ext cx="6296860" cy="924818"/>
          </a:xfrm>
          <a:prstGeom prst="rect">
            <a:avLst/>
          </a:prstGeom>
        </p:spPr>
      </p:pic>
      <p:sp>
        <p:nvSpPr>
          <p:cNvPr id="9" name="Text 4"/>
          <p:cNvSpPr/>
          <p:nvPr/>
        </p:nvSpPr>
        <p:spPr>
          <a:xfrm>
            <a:off x="888978" y="3111103"/>
            <a:ext cx="5918052"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Merge vs. Insert-Only</a:t>
            </a:r>
            <a:endParaRPr lang="en-US" sz="1300" dirty="0"/>
          </a:p>
        </p:txBody>
      </p:sp>
      <p:sp>
        <p:nvSpPr>
          <p:cNvPr id="10" name="Text 5"/>
          <p:cNvSpPr/>
          <p:nvPr/>
        </p:nvSpPr>
        <p:spPr>
          <a:xfrm>
            <a:off x="888978" y="3373338"/>
            <a:ext cx="5918052"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Choose </a:t>
            </a:r>
            <a:pPr algn="l" indent="0" marL="0">
              <a:lnSpc>
                <a:spcPct val="113000"/>
              </a:lnSpc>
              <a:buNone/>
            </a:pPr>
            <a:r>
              <a:rPr lang="en-US" sz="1000" b="1" dirty="0">
                <a:solidFill>
                  <a:srgbClr val="C9C2C0"/>
                </a:solidFill>
                <a:latin typeface="Gelasio Bold" pitchFamily="34" charset="0"/>
                <a:ea typeface="Gelasio Bold" pitchFamily="34" charset="-122"/>
                <a:cs typeface="Gelasio Bold" pitchFamily="34" charset="-120"/>
              </a:rPr>
              <a:t>merge</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(update/insert) for data requiring updates, or </a:t>
            </a:r>
            <a:pPr algn="l" indent="0" marL="0">
              <a:lnSpc>
                <a:spcPct val="113000"/>
              </a:lnSpc>
              <a:buNone/>
            </a:pPr>
            <a:r>
              <a:rPr lang="en-US" sz="1000" b="1" dirty="0">
                <a:solidFill>
                  <a:srgbClr val="C9C2C0"/>
                </a:solidFill>
                <a:latin typeface="Gelasio Bold" pitchFamily="34" charset="0"/>
                <a:ea typeface="Gelasio Bold" pitchFamily="34" charset="-122"/>
                <a:cs typeface="Gelasio Bold" pitchFamily="34" charset="-120"/>
              </a:rPr>
              <a:t>insert_overwrite</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(truncate and reload partitions) for append-only or full partition refreshes.</a:t>
            </a:r>
            <a:endParaRPr lang="en-US" sz="10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977184"/>
            <a:ext cx="6296860" cy="950218"/>
          </a:xfrm>
          <a:prstGeom prst="rect">
            <a:avLst/>
          </a:prstGeom>
        </p:spPr>
      </p:pic>
      <p:sp>
        <p:nvSpPr>
          <p:cNvPr id="12" name="Text 6"/>
          <p:cNvSpPr/>
          <p:nvPr/>
        </p:nvSpPr>
        <p:spPr>
          <a:xfrm>
            <a:off x="888978" y="4128492"/>
            <a:ext cx="5918052"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dbt Snapshots (SCD Type 2)</a:t>
            </a:r>
            <a:endParaRPr lang="en-US" sz="1300" dirty="0"/>
          </a:p>
        </p:txBody>
      </p:sp>
      <p:sp>
        <p:nvSpPr>
          <p:cNvPr id="13" name="Text 7"/>
          <p:cNvSpPr/>
          <p:nvPr/>
        </p:nvSpPr>
        <p:spPr>
          <a:xfrm>
            <a:off x="888978" y="4390727"/>
            <a:ext cx="5918052" cy="3853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Automatically track changes to source tables, capturing new versions of records with </a:t>
            </a:r>
            <a:pPr algn="l" indent="0" marL="0">
              <a:lnSpc>
                <a:spcPct val="113000"/>
              </a:lnSpc>
              <a:buNone/>
            </a:pPr>
            <a:r>
              <a:rPr lang="en-US" sz="1000" dirty="0">
                <a:solidFill>
                  <a:srgbClr val="C9C2C0"/>
                </a:solidFill>
                <a:highlight>
                  <a:srgbClr val="53504F"/>
                </a:highlight>
                <a:latin typeface="Consolas" pitchFamily="34" charset="0"/>
                <a:ea typeface="Consolas" pitchFamily="34" charset="-122"/>
                <a:cs typeface="Consolas" pitchFamily="34" charset="-120"/>
              </a:rPr>
              <a:t>valid_from</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and </a:t>
            </a:r>
            <a:pPr algn="l" indent="0" marL="0">
              <a:lnSpc>
                <a:spcPct val="113000"/>
              </a:lnSpc>
              <a:buNone/>
            </a:pPr>
            <a:r>
              <a:rPr lang="en-US" sz="1000" dirty="0">
                <a:solidFill>
                  <a:srgbClr val="C9C2C0"/>
                </a:solidFill>
                <a:highlight>
                  <a:srgbClr val="53504F"/>
                </a:highlight>
                <a:latin typeface="Consolas" pitchFamily="34" charset="0"/>
                <a:ea typeface="Consolas" pitchFamily="34" charset="-122"/>
                <a:cs typeface="Consolas" pitchFamily="34" charset="-120"/>
              </a:rPr>
              <a:t>valid_to</a:t>
            </a:r>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 timestamps for full historical context.</a:t>
            </a:r>
            <a:endParaRPr lang="en-US" sz="100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019973"/>
            <a:ext cx="6296860" cy="924818"/>
          </a:xfrm>
          <a:prstGeom prst="rect">
            <a:avLst/>
          </a:prstGeom>
        </p:spPr>
      </p:pic>
      <p:sp>
        <p:nvSpPr>
          <p:cNvPr id="15" name="Text 8"/>
          <p:cNvSpPr/>
          <p:nvPr/>
        </p:nvSpPr>
        <p:spPr>
          <a:xfrm>
            <a:off x="888978" y="5171281"/>
            <a:ext cx="5918052"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Cost &amp; Performance</a:t>
            </a:r>
            <a:endParaRPr lang="en-US" sz="1300" dirty="0"/>
          </a:p>
        </p:txBody>
      </p:sp>
      <p:sp>
        <p:nvSpPr>
          <p:cNvPr id="16" name="Text 9"/>
          <p:cNvSpPr/>
          <p:nvPr/>
        </p:nvSpPr>
        <p:spPr>
          <a:xfrm>
            <a:off x="888978" y="5433516"/>
            <a:ext cx="5918052"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These strategies drastically lower warehouse costs by minimizing data processed and improve pipeline speed by only handling relevant data each run.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08509"/>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D8B6A4"/>
                </a:solidFill>
                <a:latin typeface="Gelasio" pitchFamily="34" charset="0"/>
                <a:ea typeface="Gelasio" pitchFamily="34" charset="-122"/>
                <a:cs typeface="Gelasio" pitchFamily="34" charset="-120"/>
              </a:rPr>
              <a:t>Power BI Dashboard — Key KPIs</a:t>
            </a:r>
            <a:endParaRPr lang="en-US" sz="3300" dirty="0"/>
          </a:p>
        </p:txBody>
      </p:sp>
      <p:sp>
        <p:nvSpPr>
          <p:cNvPr id="3" name="Text 1"/>
          <p:cNvSpPr/>
          <p:nvPr/>
        </p:nvSpPr>
        <p:spPr>
          <a:xfrm>
            <a:off x="661475" y="1446312"/>
            <a:ext cx="1086874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Seven KPIs give stakeholders a </a:t>
            </a:r>
            <a:pPr algn="l" indent="0" marL="0">
              <a:lnSpc>
                <a:spcPct val="127000"/>
              </a:lnSpc>
              <a:buNone/>
            </a:pPr>
            <a:r>
              <a:rPr lang="en-US" sz="1300" b="1" dirty="0">
                <a:solidFill>
                  <a:srgbClr val="C9C2C0"/>
                </a:solidFill>
                <a:latin typeface="Gelasio Bold" pitchFamily="34" charset="0"/>
                <a:ea typeface="Gelasio Bold" pitchFamily="34" charset="-122"/>
                <a:cs typeface="Gelasio Bold" pitchFamily="34" charset="-120"/>
              </a:rPr>
              <a:t>real-time view of e-commerce performance</a:t>
            </a:r>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 connected directly to the Gold layer via Databricks SQL Warehouse.</a:t>
            </a:r>
            <a:endParaRPr lang="en-US" sz="1300" dirty="0"/>
          </a:p>
        </p:txBody>
      </p:sp>
      <p:sp>
        <p:nvSpPr>
          <p:cNvPr id="4" name="Shape 2"/>
          <p:cNvSpPr/>
          <p:nvPr/>
        </p:nvSpPr>
        <p:spPr>
          <a:xfrm>
            <a:off x="661475" y="2135684"/>
            <a:ext cx="3520788" cy="1269206"/>
          </a:xfrm>
          <a:prstGeom prst="roundRect">
            <a:avLst>
              <a:gd name="adj" fmla="val 2011"/>
            </a:avLst>
          </a:prstGeom>
          <a:solidFill>
            <a:srgbClr val="373433"/>
          </a:solidFill>
          <a:ln/>
        </p:spPr>
      </p:sp>
      <p:sp>
        <p:nvSpPr>
          <p:cNvPr id="5" name="Shape 3"/>
          <p:cNvSpPr/>
          <p:nvPr/>
        </p:nvSpPr>
        <p:spPr>
          <a:xfrm>
            <a:off x="831532" y="2305745"/>
            <a:ext cx="510269" cy="510282"/>
          </a:xfrm>
          <a:prstGeom prst="ellipse">
            <a:avLst/>
          </a:prstGeom>
          <a:solidFill>
            <a:srgbClr val="C49F8C"/>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1823" y="2446040"/>
            <a:ext cx="229586" cy="229592"/>
          </a:xfrm>
          <a:prstGeom prst="rect">
            <a:avLst/>
          </a:prstGeom>
        </p:spPr>
      </p:pic>
      <p:sp>
        <p:nvSpPr>
          <p:cNvPr id="7" name="Text 4"/>
          <p:cNvSpPr/>
          <p:nvPr/>
        </p:nvSpPr>
        <p:spPr>
          <a:xfrm>
            <a:off x="831532" y="2969121"/>
            <a:ext cx="3180675"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Total Revenue</a:t>
            </a:r>
            <a:endParaRPr lang="en-US" sz="1650" dirty="0"/>
          </a:p>
        </p:txBody>
      </p:sp>
      <p:sp>
        <p:nvSpPr>
          <p:cNvPr id="8" name="Shape 5"/>
          <p:cNvSpPr/>
          <p:nvPr/>
        </p:nvSpPr>
        <p:spPr>
          <a:xfrm>
            <a:off x="4335354" y="2135684"/>
            <a:ext cx="3520888" cy="1269206"/>
          </a:xfrm>
          <a:prstGeom prst="roundRect">
            <a:avLst>
              <a:gd name="adj" fmla="val 2011"/>
            </a:avLst>
          </a:prstGeom>
          <a:solidFill>
            <a:srgbClr val="373433"/>
          </a:solidFill>
          <a:ln/>
        </p:spPr>
      </p:sp>
      <p:sp>
        <p:nvSpPr>
          <p:cNvPr id="9" name="Shape 6"/>
          <p:cNvSpPr/>
          <p:nvPr/>
        </p:nvSpPr>
        <p:spPr>
          <a:xfrm>
            <a:off x="4505411" y="2305745"/>
            <a:ext cx="510269" cy="510282"/>
          </a:xfrm>
          <a:prstGeom prst="ellipse">
            <a:avLst/>
          </a:prstGeom>
          <a:solidFill>
            <a:srgbClr val="C49F8C"/>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5703" y="2446040"/>
            <a:ext cx="229586" cy="229592"/>
          </a:xfrm>
          <a:prstGeom prst="rect">
            <a:avLst/>
          </a:prstGeom>
        </p:spPr>
      </p:pic>
      <p:sp>
        <p:nvSpPr>
          <p:cNvPr id="11" name="Text 7"/>
          <p:cNvSpPr/>
          <p:nvPr/>
        </p:nvSpPr>
        <p:spPr>
          <a:xfrm>
            <a:off x="4505411" y="2969121"/>
            <a:ext cx="3180774"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Total Orders</a:t>
            </a:r>
            <a:endParaRPr lang="en-US" sz="1650" dirty="0"/>
          </a:p>
        </p:txBody>
      </p:sp>
      <p:sp>
        <p:nvSpPr>
          <p:cNvPr id="12" name="Shape 8"/>
          <p:cNvSpPr/>
          <p:nvPr/>
        </p:nvSpPr>
        <p:spPr>
          <a:xfrm>
            <a:off x="8009332" y="2135684"/>
            <a:ext cx="3520888" cy="1269206"/>
          </a:xfrm>
          <a:prstGeom prst="roundRect">
            <a:avLst>
              <a:gd name="adj" fmla="val 2011"/>
            </a:avLst>
          </a:prstGeom>
          <a:solidFill>
            <a:srgbClr val="373433"/>
          </a:solidFill>
          <a:ln/>
        </p:spPr>
      </p:sp>
      <p:sp>
        <p:nvSpPr>
          <p:cNvPr id="13" name="Shape 9"/>
          <p:cNvSpPr/>
          <p:nvPr/>
        </p:nvSpPr>
        <p:spPr>
          <a:xfrm>
            <a:off x="8179389" y="2305745"/>
            <a:ext cx="510269" cy="510282"/>
          </a:xfrm>
          <a:prstGeom prst="ellipse">
            <a:avLst/>
          </a:prstGeom>
          <a:solidFill>
            <a:srgbClr val="C49F8C"/>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9681" y="2446040"/>
            <a:ext cx="229586" cy="229592"/>
          </a:xfrm>
          <a:prstGeom prst="rect">
            <a:avLst/>
          </a:prstGeom>
        </p:spPr>
      </p:pic>
      <p:sp>
        <p:nvSpPr>
          <p:cNvPr id="15" name="Text 10"/>
          <p:cNvSpPr/>
          <p:nvPr/>
        </p:nvSpPr>
        <p:spPr>
          <a:xfrm>
            <a:off x="8179389" y="2969121"/>
            <a:ext cx="3180774"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Total Customers</a:t>
            </a:r>
            <a:endParaRPr lang="en-US" sz="1650" dirty="0"/>
          </a:p>
        </p:txBody>
      </p:sp>
      <p:sp>
        <p:nvSpPr>
          <p:cNvPr id="16" name="Shape 11"/>
          <p:cNvSpPr/>
          <p:nvPr/>
        </p:nvSpPr>
        <p:spPr>
          <a:xfrm>
            <a:off x="661475" y="3557984"/>
            <a:ext cx="3520788" cy="1269206"/>
          </a:xfrm>
          <a:prstGeom prst="roundRect">
            <a:avLst>
              <a:gd name="adj" fmla="val 2011"/>
            </a:avLst>
          </a:prstGeom>
          <a:solidFill>
            <a:srgbClr val="373433"/>
          </a:solidFill>
          <a:ln/>
        </p:spPr>
      </p:sp>
      <p:sp>
        <p:nvSpPr>
          <p:cNvPr id="17" name="Shape 12"/>
          <p:cNvSpPr/>
          <p:nvPr/>
        </p:nvSpPr>
        <p:spPr>
          <a:xfrm>
            <a:off x="831532" y="3728045"/>
            <a:ext cx="510269" cy="510282"/>
          </a:xfrm>
          <a:prstGeom prst="ellipse">
            <a:avLst/>
          </a:prstGeom>
          <a:solidFill>
            <a:srgbClr val="C49F8C"/>
          </a:solidFill>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823" y="3868341"/>
            <a:ext cx="229586" cy="229592"/>
          </a:xfrm>
          <a:prstGeom prst="rect">
            <a:avLst/>
          </a:prstGeom>
        </p:spPr>
      </p:pic>
      <p:sp>
        <p:nvSpPr>
          <p:cNvPr id="19" name="Text 13"/>
          <p:cNvSpPr/>
          <p:nvPr/>
        </p:nvSpPr>
        <p:spPr>
          <a:xfrm>
            <a:off x="831532" y="4391422"/>
            <a:ext cx="3180675"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Top Products</a:t>
            </a:r>
            <a:endParaRPr lang="en-US" sz="1650" dirty="0"/>
          </a:p>
        </p:txBody>
      </p:sp>
      <p:sp>
        <p:nvSpPr>
          <p:cNvPr id="20" name="Shape 14"/>
          <p:cNvSpPr/>
          <p:nvPr/>
        </p:nvSpPr>
        <p:spPr>
          <a:xfrm>
            <a:off x="4335354" y="3557984"/>
            <a:ext cx="3520888" cy="1269206"/>
          </a:xfrm>
          <a:prstGeom prst="roundRect">
            <a:avLst>
              <a:gd name="adj" fmla="val 2011"/>
            </a:avLst>
          </a:prstGeom>
          <a:solidFill>
            <a:srgbClr val="373433"/>
          </a:solidFill>
          <a:ln/>
        </p:spPr>
      </p:sp>
      <p:sp>
        <p:nvSpPr>
          <p:cNvPr id="21" name="Shape 15"/>
          <p:cNvSpPr/>
          <p:nvPr/>
        </p:nvSpPr>
        <p:spPr>
          <a:xfrm>
            <a:off x="4505411" y="3728045"/>
            <a:ext cx="510269" cy="510282"/>
          </a:xfrm>
          <a:prstGeom prst="ellipse">
            <a:avLst/>
          </a:prstGeom>
          <a:solidFill>
            <a:srgbClr val="C49F8C"/>
          </a:solidFill>
          <a:ln/>
        </p:spPr>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45703" y="3868341"/>
            <a:ext cx="229586" cy="229592"/>
          </a:xfrm>
          <a:prstGeom prst="rect">
            <a:avLst/>
          </a:prstGeom>
        </p:spPr>
      </p:pic>
      <p:sp>
        <p:nvSpPr>
          <p:cNvPr id="23" name="Text 16"/>
          <p:cNvSpPr/>
          <p:nvPr/>
        </p:nvSpPr>
        <p:spPr>
          <a:xfrm>
            <a:off x="4505411" y="4391422"/>
            <a:ext cx="3180774"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Monthly Sales</a:t>
            </a:r>
            <a:endParaRPr lang="en-US" sz="1650" dirty="0"/>
          </a:p>
        </p:txBody>
      </p:sp>
      <p:sp>
        <p:nvSpPr>
          <p:cNvPr id="24" name="Shape 17"/>
          <p:cNvSpPr/>
          <p:nvPr/>
        </p:nvSpPr>
        <p:spPr>
          <a:xfrm>
            <a:off x="8009332" y="3557984"/>
            <a:ext cx="3520888" cy="1269206"/>
          </a:xfrm>
          <a:prstGeom prst="roundRect">
            <a:avLst>
              <a:gd name="adj" fmla="val 2011"/>
            </a:avLst>
          </a:prstGeom>
          <a:solidFill>
            <a:srgbClr val="373433"/>
          </a:solidFill>
          <a:ln/>
        </p:spPr>
      </p:sp>
      <p:sp>
        <p:nvSpPr>
          <p:cNvPr id="25" name="Shape 18"/>
          <p:cNvSpPr/>
          <p:nvPr/>
        </p:nvSpPr>
        <p:spPr>
          <a:xfrm>
            <a:off x="8179389" y="3728045"/>
            <a:ext cx="510269" cy="510282"/>
          </a:xfrm>
          <a:prstGeom prst="ellipse">
            <a:avLst/>
          </a:prstGeom>
          <a:solidFill>
            <a:srgbClr val="C49F8C"/>
          </a:solidFill>
          <a:ln/>
        </p:spPr>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19681" y="3868341"/>
            <a:ext cx="229586" cy="229592"/>
          </a:xfrm>
          <a:prstGeom prst="rect">
            <a:avLst/>
          </a:prstGeom>
        </p:spPr>
      </p:pic>
      <p:sp>
        <p:nvSpPr>
          <p:cNvPr id="27" name="Text 19"/>
          <p:cNvSpPr/>
          <p:nvPr/>
        </p:nvSpPr>
        <p:spPr>
          <a:xfrm>
            <a:off x="8179389" y="4391422"/>
            <a:ext cx="3180774"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Category Analysis</a:t>
            </a:r>
            <a:endParaRPr lang="en-US" sz="1650" dirty="0"/>
          </a:p>
        </p:txBody>
      </p:sp>
      <p:sp>
        <p:nvSpPr>
          <p:cNvPr id="28" name="Shape 20"/>
          <p:cNvSpPr/>
          <p:nvPr/>
        </p:nvSpPr>
        <p:spPr>
          <a:xfrm>
            <a:off x="661475" y="4980285"/>
            <a:ext cx="10868745" cy="1269206"/>
          </a:xfrm>
          <a:prstGeom prst="roundRect">
            <a:avLst>
              <a:gd name="adj" fmla="val 2011"/>
            </a:avLst>
          </a:prstGeom>
          <a:solidFill>
            <a:srgbClr val="373433"/>
          </a:solidFill>
          <a:ln/>
        </p:spPr>
      </p:sp>
      <p:sp>
        <p:nvSpPr>
          <p:cNvPr id="29" name="Shape 21"/>
          <p:cNvSpPr/>
          <p:nvPr/>
        </p:nvSpPr>
        <p:spPr>
          <a:xfrm>
            <a:off x="831532" y="5150346"/>
            <a:ext cx="510269" cy="510282"/>
          </a:xfrm>
          <a:prstGeom prst="ellipse">
            <a:avLst/>
          </a:prstGeom>
          <a:solidFill>
            <a:srgbClr val="C49F8C"/>
          </a:solidFill>
          <a:ln/>
        </p:spPr>
      </p:sp>
      <p:pic>
        <p:nvPicPr>
          <p:cNvPr id="3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1823" y="5290641"/>
            <a:ext cx="229586" cy="229592"/>
          </a:xfrm>
          <a:prstGeom prst="rect">
            <a:avLst/>
          </a:prstGeom>
        </p:spPr>
      </p:pic>
      <p:sp>
        <p:nvSpPr>
          <p:cNvPr id="31" name="Text 22"/>
          <p:cNvSpPr/>
          <p:nvPr/>
        </p:nvSpPr>
        <p:spPr>
          <a:xfrm>
            <a:off x="831532" y="5813723"/>
            <a:ext cx="10528632"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Seller Performance</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73695"/>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D8B6A4"/>
                </a:solidFill>
                <a:latin typeface="Gelasio" pitchFamily="34" charset="0"/>
                <a:ea typeface="Gelasio" pitchFamily="34" charset="-122"/>
                <a:cs typeface="Gelasio" pitchFamily="34" charset="-120"/>
              </a:rPr>
              <a:t>Key Learnings &amp; Best Practices</a:t>
            </a:r>
            <a:endParaRPr lang="en-US" sz="2600" dirty="0"/>
          </a:p>
        </p:txBody>
      </p:sp>
      <p:sp>
        <p:nvSpPr>
          <p:cNvPr id="3" name="Text 1"/>
          <p:cNvSpPr/>
          <p:nvPr/>
        </p:nvSpPr>
        <p:spPr>
          <a:xfrm>
            <a:off x="661475" y="1226046"/>
            <a:ext cx="11478330" cy="179983"/>
          </a:xfrm>
          <a:prstGeom prst="rect">
            <a:avLst/>
          </a:prstGeom>
          <a:noFill/>
          <a:ln/>
        </p:spPr>
        <p:txBody>
          <a:bodyPr wrap="none" lIns="0" tIns="0" rIns="0" bIns="0" rtlCol="0" anchor="t"/>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Reflecting on the development process, several critical lessons emerged, guiding our approach to robust and scalable data solutions, alongside recommendations for future growth.</a:t>
            </a:r>
            <a:endParaRPr lang="en-US" sz="1000" dirty="0"/>
          </a:p>
        </p:txBody>
      </p:sp>
      <p:sp>
        <p:nvSpPr>
          <p:cNvPr id="4" name="Text 2"/>
          <p:cNvSpPr/>
          <p:nvPr/>
        </p:nvSpPr>
        <p:spPr>
          <a:xfrm>
            <a:off x="661475" y="1602780"/>
            <a:ext cx="5273047" cy="248047"/>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Key Learnings</a:t>
            </a:r>
            <a:endParaRPr lang="en-US" sz="1550" dirty="0"/>
          </a:p>
        </p:txBody>
      </p:sp>
      <p:sp>
        <p:nvSpPr>
          <p:cNvPr id="5" name="Shape 3"/>
          <p:cNvSpPr/>
          <p:nvPr/>
        </p:nvSpPr>
        <p:spPr>
          <a:xfrm>
            <a:off x="661475" y="1955006"/>
            <a:ext cx="5273047" cy="961827"/>
          </a:xfrm>
          <a:prstGeom prst="roundRect">
            <a:avLst>
              <a:gd name="adj" fmla="val 2063"/>
            </a:avLst>
          </a:prstGeom>
          <a:solidFill>
            <a:srgbClr val="464342"/>
          </a:solidFill>
          <a:ln w="19050">
            <a:solidFill>
              <a:srgbClr val="504D4C"/>
            </a:solidFill>
            <a:prstDash val="solid"/>
          </a:ln>
        </p:spPr>
      </p:sp>
      <p:sp>
        <p:nvSpPr>
          <p:cNvPr id="6" name="Text 4"/>
          <p:cNvSpPr/>
          <p:nvPr/>
        </p:nvSpPr>
        <p:spPr>
          <a:xfrm>
            <a:off x="812780" y="2106315"/>
            <a:ext cx="4970437"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Data Quality Early</a:t>
            </a:r>
            <a:endParaRPr lang="en-US" sz="1300" dirty="0"/>
          </a:p>
        </p:txBody>
      </p:sp>
      <p:sp>
        <p:nvSpPr>
          <p:cNvPr id="7" name="Text 5"/>
          <p:cNvSpPr/>
          <p:nvPr/>
        </p:nvSpPr>
        <p:spPr>
          <a:xfrm>
            <a:off x="812780" y="2405559"/>
            <a:ext cx="4970437"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Prioritizing data validation at the Bronze layer is crucial to prevent cascading errors and ensure downstream reliability.</a:t>
            </a:r>
            <a:endParaRPr lang="en-US" sz="1000" dirty="0"/>
          </a:p>
        </p:txBody>
      </p:sp>
      <p:sp>
        <p:nvSpPr>
          <p:cNvPr id="8" name="Shape 6"/>
          <p:cNvSpPr/>
          <p:nvPr/>
        </p:nvSpPr>
        <p:spPr>
          <a:xfrm>
            <a:off x="661475" y="3009404"/>
            <a:ext cx="5273047" cy="961827"/>
          </a:xfrm>
          <a:prstGeom prst="roundRect">
            <a:avLst>
              <a:gd name="adj" fmla="val 2063"/>
            </a:avLst>
          </a:prstGeom>
          <a:solidFill>
            <a:srgbClr val="464342"/>
          </a:solidFill>
          <a:ln w="19050">
            <a:solidFill>
              <a:srgbClr val="504D4C"/>
            </a:solidFill>
            <a:prstDash val="solid"/>
          </a:ln>
        </p:spPr>
      </p:sp>
      <p:sp>
        <p:nvSpPr>
          <p:cNvPr id="9" name="Text 7"/>
          <p:cNvSpPr/>
          <p:nvPr/>
        </p:nvSpPr>
        <p:spPr>
          <a:xfrm>
            <a:off x="812780" y="3160713"/>
            <a:ext cx="4970437"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dbt for Maintainability</a:t>
            </a:r>
            <a:endParaRPr lang="en-US" sz="1300" dirty="0"/>
          </a:p>
        </p:txBody>
      </p:sp>
      <p:sp>
        <p:nvSpPr>
          <p:cNvPr id="10" name="Text 8"/>
          <p:cNvSpPr/>
          <p:nvPr/>
        </p:nvSpPr>
        <p:spPr>
          <a:xfrm>
            <a:off x="812780" y="3459956"/>
            <a:ext cx="4970437"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Leveraging dbt's modularity and testing capabilities dramatically improves model consistency, maintainability, and documentation.</a:t>
            </a:r>
            <a:endParaRPr lang="en-US" sz="1000" dirty="0"/>
          </a:p>
        </p:txBody>
      </p:sp>
      <p:sp>
        <p:nvSpPr>
          <p:cNvPr id="11" name="Shape 9"/>
          <p:cNvSpPr/>
          <p:nvPr/>
        </p:nvSpPr>
        <p:spPr>
          <a:xfrm>
            <a:off x="661475" y="4063802"/>
            <a:ext cx="5273047" cy="961827"/>
          </a:xfrm>
          <a:prstGeom prst="roundRect">
            <a:avLst>
              <a:gd name="adj" fmla="val 2063"/>
            </a:avLst>
          </a:prstGeom>
          <a:solidFill>
            <a:srgbClr val="464342"/>
          </a:solidFill>
          <a:ln w="19050">
            <a:solidFill>
              <a:srgbClr val="504D4C"/>
            </a:solidFill>
            <a:prstDash val="solid"/>
          </a:ln>
        </p:spPr>
      </p:sp>
      <p:sp>
        <p:nvSpPr>
          <p:cNvPr id="12" name="Text 10"/>
          <p:cNvSpPr/>
          <p:nvPr/>
        </p:nvSpPr>
        <p:spPr>
          <a:xfrm>
            <a:off x="812780" y="4215110"/>
            <a:ext cx="4970437"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Scalable Medallion</a:t>
            </a:r>
            <a:endParaRPr lang="en-US" sz="1300" dirty="0"/>
          </a:p>
        </p:txBody>
      </p:sp>
      <p:sp>
        <p:nvSpPr>
          <p:cNvPr id="13" name="Text 11"/>
          <p:cNvSpPr/>
          <p:nvPr/>
        </p:nvSpPr>
        <p:spPr>
          <a:xfrm>
            <a:off x="812780" y="4514354"/>
            <a:ext cx="4970437"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The Medallion architecture proved to be an effective framework for structured data governance and scalable processing.</a:t>
            </a:r>
            <a:endParaRPr lang="en-US" sz="1000" dirty="0"/>
          </a:p>
        </p:txBody>
      </p:sp>
      <p:sp>
        <p:nvSpPr>
          <p:cNvPr id="14" name="Shape 12"/>
          <p:cNvSpPr/>
          <p:nvPr/>
        </p:nvSpPr>
        <p:spPr>
          <a:xfrm>
            <a:off x="661475" y="5118199"/>
            <a:ext cx="5273047" cy="961827"/>
          </a:xfrm>
          <a:prstGeom prst="roundRect">
            <a:avLst>
              <a:gd name="adj" fmla="val 2063"/>
            </a:avLst>
          </a:prstGeom>
          <a:solidFill>
            <a:srgbClr val="464342"/>
          </a:solidFill>
          <a:ln w="19050">
            <a:solidFill>
              <a:srgbClr val="504D4C"/>
            </a:solidFill>
            <a:prstDash val="solid"/>
          </a:ln>
        </p:spPr>
      </p:sp>
      <p:sp>
        <p:nvSpPr>
          <p:cNvPr id="15" name="Text 13"/>
          <p:cNvSpPr/>
          <p:nvPr/>
        </p:nvSpPr>
        <p:spPr>
          <a:xfrm>
            <a:off x="812780" y="5269508"/>
            <a:ext cx="4970437" cy="206673"/>
          </a:xfrm>
          <a:prstGeom prst="rect">
            <a:avLst/>
          </a:prstGeom>
          <a:noFill/>
          <a:ln/>
        </p:spPr>
        <p:txBody>
          <a:bodyPr wrap="none" lIns="0" tIns="0" rIns="0" bIns="0" rtlCol="0" anchor="t"/>
          <a:lstStyle/>
          <a:p>
            <a:pPr algn="l" indent="0" marL="0">
              <a:lnSpc>
                <a:spcPct val="104000"/>
              </a:lnSpc>
              <a:buNone/>
            </a:pPr>
            <a:r>
              <a:rPr lang="en-US" sz="1300" dirty="0">
                <a:solidFill>
                  <a:srgbClr val="C9C2C0"/>
                </a:solidFill>
                <a:latin typeface="Gelasio" pitchFamily="34" charset="0"/>
                <a:ea typeface="Gelasio" pitchFamily="34" charset="-122"/>
                <a:cs typeface="Gelasio" pitchFamily="34" charset="-120"/>
              </a:rPr>
              <a:t>Monitoring First-Class</a:t>
            </a:r>
            <a:endParaRPr lang="en-US" sz="1300" dirty="0"/>
          </a:p>
        </p:txBody>
      </p:sp>
      <p:sp>
        <p:nvSpPr>
          <p:cNvPr id="16" name="Text 14"/>
          <p:cNvSpPr/>
          <p:nvPr/>
        </p:nvSpPr>
        <p:spPr>
          <a:xfrm>
            <a:off x="812780" y="5568752"/>
            <a:ext cx="4970437" cy="359966"/>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C9C2C0"/>
                </a:solidFill>
                <a:latin typeface="Gelasio" pitchFamily="34" charset="0"/>
                <a:ea typeface="Gelasio" pitchFamily="34" charset="-122"/>
                <a:cs typeface="Gelasio" pitchFamily="34" charset="-120"/>
              </a:rPr>
              <a:t>Integrating automated monitoring and Slack alerts from the outset ensures operational visibility and rapid incident response.</a:t>
            </a:r>
            <a:endParaRPr lang="en-US" sz="1000" dirty="0"/>
          </a:p>
        </p:txBody>
      </p:sp>
      <p:sp>
        <p:nvSpPr>
          <p:cNvPr id="17" name="Text 15"/>
          <p:cNvSpPr/>
          <p:nvPr/>
        </p:nvSpPr>
        <p:spPr>
          <a:xfrm>
            <a:off x="6263523" y="1602780"/>
            <a:ext cx="5273047" cy="248047"/>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Recommendations &amp; Future Growth</a:t>
            </a:r>
            <a:endParaRPr lang="en-US" sz="1550" dirty="0"/>
          </a:p>
        </p:txBody>
      </p:sp>
      <p:sp>
        <p:nvSpPr>
          <p:cNvPr id="18" name="Text 16"/>
          <p:cNvSpPr/>
          <p:nvPr/>
        </p:nvSpPr>
        <p:spPr>
          <a:xfrm>
            <a:off x="6263523" y="1943398"/>
            <a:ext cx="5273047" cy="1536898"/>
          </a:xfrm>
          <a:prstGeom prst="rect">
            <a:avLst/>
          </a:prstGeom>
          <a:noFill/>
          <a:ln/>
        </p:spPr>
        <p:txBody>
          <a:bodyPr wrap="square" lIns="0" tIns="0" rIns="0" bIns="0" rtlCol="0" anchor="t">
            <a:normAutofit/>
          </a:bodyPr>
          <a:lstStyle/>
          <a:p>
            <a:pPr algn="l" marL="203200" indent="-203200">
              <a:lnSpc>
                <a:spcPct val="113000"/>
              </a:lnSpc>
              <a:buSzPct val="100000"/>
              <a:buChar char="•"/>
            </a:pPr>
            <a:r>
              <a:rPr lang="en-US" sz="1000" b="1" dirty="0">
                <a:solidFill>
                  <a:srgbClr val="C9C2C0"/>
                </a:solidFill>
                <a:latin typeface="Gelasio Bold" pitchFamily="34" charset="0"/>
                <a:ea typeface="Gelasio Bold" pitchFamily="34" charset="-122"/>
                <a:cs typeface="Gelasio Bold" pitchFamily="34" charset="-120"/>
              </a:rPr>
              <a:t>Streaming Ingestion:</a:t>
            </a:r>
            <a:pPr algn="l" marL="203200" indent="-203200">
              <a:lnSpc>
                <a:spcPct val="113000"/>
              </a:lnSpc>
              <a:buSzPct val="100000"/>
              <a:buChar char="•"/>
            </a:pPr>
            <a:r>
              <a:rPr lang="en-US" sz="1000" dirty="0">
                <a:solidFill>
                  <a:srgbClr val="C9C2C0"/>
                </a:solidFill>
                <a:latin typeface="Gelasio" pitchFamily="34" charset="0"/>
                <a:ea typeface="Gelasio" pitchFamily="34" charset="-122"/>
                <a:cs typeface="Gelasio" pitchFamily="34" charset="-120"/>
              </a:rPr>
              <a:t> Explore Azure Event Hubs or Kafka for real-time analytics and event-driven processing.</a:t>
            </a:r>
            <a:endParaRPr lang="en-US" sz="1000" dirty="0"/>
          </a:p>
          <a:p>
            <a:pPr algn="l" marL="203200" indent="-203200">
              <a:lnSpc>
                <a:spcPct val="113000"/>
              </a:lnSpc>
              <a:buSzPct val="100000"/>
              <a:buChar char="•"/>
            </a:pPr>
            <a:r>
              <a:rPr lang="en-US" sz="1000" b="1" dirty="0">
                <a:solidFill>
                  <a:srgbClr val="C9C2C0"/>
                </a:solidFill>
                <a:latin typeface="Gelasio Bold" pitchFamily="34" charset="0"/>
                <a:ea typeface="Gelasio Bold" pitchFamily="34" charset="-122"/>
                <a:cs typeface="Gelasio Bold" pitchFamily="34" charset="-120"/>
              </a:rPr>
              <a:t>Advanced ML Models:</a:t>
            </a:r>
            <a:pPr algn="l" marL="203200" indent="-203200">
              <a:lnSpc>
                <a:spcPct val="113000"/>
              </a:lnSpc>
              <a:buSzPct val="100000"/>
              <a:buChar char="•"/>
            </a:pPr>
            <a:r>
              <a:rPr lang="en-US" sz="1000" dirty="0">
                <a:solidFill>
                  <a:srgbClr val="C9C2C0"/>
                </a:solidFill>
                <a:latin typeface="Gelasio" pitchFamily="34" charset="0"/>
                <a:ea typeface="Gelasio" pitchFamily="34" charset="-122"/>
                <a:cs typeface="Gelasio" pitchFamily="34" charset="-120"/>
              </a:rPr>
              <a:t> Integrate Databricks Machine Learning for demand forecasting, customer segmentation, or product recommendation engines.</a:t>
            </a:r>
            <a:endParaRPr lang="en-US" sz="1000" dirty="0"/>
          </a:p>
          <a:p>
            <a:pPr algn="l" marL="203200" indent="-203200">
              <a:lnSpc>
                <a:spcPct val="113000"/>
              </a:lnSpc>
              <a:buSzPct val="100000"/>
              <a:buChar char="•"/>
            </a:pPr>
            <a:r>
              <a:rPr lang="en-US" sz="1000" b="1" dirty="0">
                <a:solidFill>
                  <a:srgbClr val="C9C2C0"/>
                </a:solidFill>
                <a:latin typeface="Gelasio Bold" pitchFamily="34" charset="0"/>
                <a:ea typeface="Gelasio Bold" pitchFamily="34" charset="-122"/>
                <a:cs typeface="Gelasio Bold" pitchFamily="34" charset="-120"/>
              </a:rPr>
              <a:t>Expand Data Sources:</a:t>
            </a:r>
            <a:pPr algn="l" marL="203200" indent="-203200">
              <a:lnSpc>
                <a:spcPct val="113000"/>
              </a:lnSpc>
              <a:buSzPct val="100000"/>
              <a:buChar char="•"/>
            </a:pPr>
            <a:r>
              <a:rPr lang="en-US" sz="1000" dirty="0">
                <a:solidFill>
                  <a:srgbClr val="C9C2C0"/>
                </a:solidFill>
                <a:latin typeface="Gelasio" pitchFamily="34" charset="0"/>
                <a:ea typeface="Gelasio" pitchFamily="34" charset="-122"/>
                <a:cs typeface="Gelasio" pitchFamily="34" charset="-120"/>
              </a:rPr>
              <a:t> Incorporate marketing, inventory, and customer service data for a 360-degree business view.</a:t>
            </a:r>
            <a:endParaRPr lang="en-US" sz="1000" dirty="0"/>
          </a:p>
          <a:p>
            <a:pPr algn="l" marL="203200" indent="-203200">
              <a:lnSpc>
                <a:spcPct val="113000"/>
              </a:lnSpc>
              <a:buSzPct val="100000"/>
              <a:buChar char="•"/>
            </a:pPr>
            <a:r>
              <a:rPr lang="en-US" sz="1000" b="1" dirty="0">
                <a:solidFill>
                  <a:srgbClr val="C9C2C0"/>
                </a:solidFill>
                <a:latin typeface="Gelasio Bold" pitchFamily="34" charset="0"/>
                <a:ea typeface="Gelasio Bold" pitchFamily="34" charset="-122"/>
                <a:cs typeface="Gelasio Bold" pitchFamily="34" charset="-120"/>
              </a:rPr>
              <a:t>Team Scaling:</a:t>
            </a:r>
            <a:pPr algn="l" marL="203200" indent="-203200">
              <a:lnSpc>
                <a:spcPct val="113000"/>
              </a:lnSpc>
              <a:buSzPct val="100000"/>
              <a:buChar char="•"/>
            </a:pPr>
            <a:r>
              <a:rPr lang="en-US" sz="1000" dirty="0">
                <a:solidFill>
                  <a:srgbClr val="C9C2C0"/>
                </a:solidFill>
                <a:latin typeface="Gelasio" pitchFamily="34" charset="0"/>
                <a:ea typeface="Gelasio" pitchFamily="34" charset="-122"/>
                <a:cs typeface="Gelasio" pitchFamily="34" charset="-120"/>
              </a:rPr>
              <a:t> Establish clear dbt best practices and cross-functional training to support team expansion and collaboration.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85490"/>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D8B6A4"/>
                </a:solidFill>
                <a:latin typeface="Gelasio" pitchFamily="34" charset="0"/>
                <a:ea typeface="Gelasio" pitchFamily="34" charset="-122"/>
                <a:cs typeface="Gelasio" pitchFamily="34" charset="-120"/>
              </a:rPr>
              <a:t>Data Ingestion Strategy — CSV to Bronze</a:t>
            </a:r>
            <a:endParaRPr lang="en-US" sz="3150" dirty="0"/>
          </a:p>
        </p:txBody>
      </p:sp>
      <p:sp>
        <p:nvSpPr>
          <p:cNvPr id="3" name="Text 1"/>
          <p:cNvSpPr/>
          <p:nvPr/>
        </p:nvSpPr>
        <p:spPr>
          <a:xfrm>
            <a:off x="661475" y="1360587"/>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Safely and efficiently move raw CSV files into the Bronze layer, ensuring data integrity and pipeline resilience.</a:t>
            </a:r>
            <a:endParaRPr lang="en-US" sz="1250" dirty="0"/>
          </a:p>
        </p:txBody>
      </p:sp>
      <p:sp>
        <p:nvSpPr>
          <p:cNvPr id="4" name="Text 2"/>
          <p:cNvSpPr/>
          <p:nvPr/>
        </p:nvSpPr>
        <p:spPr>
          <a:xfrm>
            <a:off x="661475" y="1888430"/>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Key Ingestion Principles</a:t>
            </a:r>
            <a:endParaRPr lang="en-US" sz="15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1699" y="2297956"/>
            <a:ext cx="240996" cy="241002"/>
          </a:xfrm>
          <a:prstGeom prst="rect">
            <a:avLst/>
          </a:prstGeom>
        </p:spPr>
      </p:pic>
      <p:sp>
        <p:nvSpPr>
          <p:cNvPr id="6" name="Text 3"/>
          <p:cNvSpPr/>
          <p:nvPr/>
        </p:nvSpPr>
        <p:spPr>
          <a:xfrm>
            <a:off x="1183551" y="2293045"/>
            <a:ext cx="471634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Load Types</a:t>
            </a:r>
            <a:endParaRPr lang="en-US" sz="1550" dirty="0"/>
          </a:p>
        </p:txBody>
      </p:sp>
      <p:sp>
        <p:nvSpPr>
          <p:cNvPr id="7" name="Text 4"/>
          <p:cNvSpPr/>
          <p:nvPr/>
        </p:nvSpPr>
        <p:spPr>
          <a:xfrm>
            <a:off x="1183551" y="2680593"/>
            <a:ext cx="4716345" cy="475456"/>
          </a:xfrm>
          <a:prstGeom prst="rect">
            <a:avLst/>
          </a:prstGeom>
          <a:noFill/>
          <a:ln/>
        </p:spPr>
        <p:txBody>
          <a:bodyPr wrap="square" lIns="0" tIns="0" rIns="0" bIns="0" rtlCol="0" anchor="t">
            <a:normAutofit/>
          </a:bodyPr>
          <a:lstStyle/>
          <a:p>
            <a:pPr algn="l" indent="0" marL="0">
              <a:lnSpc>
                <a:spcPct val="123000"/>
              </a:lnSpc>
              <a:buNone/>
            </a:pPr>
            <a:r>
              <a:rPr lang="en-US" sz="1250" b="1" dirty="0">
                <a:solidFill>
                  <a:srgbClr val="C9C2C0"/>
                </a:solidFill>
                <a:latin typeface="Gelasio Bold" pitchFamily="34" charset="0"/>
                <a:ea typeface="Gelasio Bold" pitchFamily="34" charset="-122"/>
                <a:cs typeface="Gelasio Bold" pitchFamily="34" charset="-120"/>
              </a:rPr>
              <a:t>Incremental:</a:t>
            </a:r>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 Only new or changed records. </a:t>
            </a:r>
            <a:pPr algn="l" indent="0" marL="0">
              <a:lnSpc>
                <a:spcPct val="123000"/>
              </a:lnSpc>
              <a:buNone/>
            </a:pPr>
            <a:r>
              <a:rPr lang="en-US" sz="1250" b="1" dirty="0">
                <a:solidFill>
                  <a:srgbClr val="C9C2C0"/>
                </a:solidFill>
                <a:latin typeface="Gelasio Bold" pitchFamily="34" charset="0"/>
                <a:ea typeface="Gelasio Bold" pitchFamily="34" charset="-122"/>
                <a:cs typeface="Gelasio Bold" pitchFamily="34" charset="-120"/>
              </a:rPr>
              <a:t>Full:</a:t>
            </a:r>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 All data for initial loads or periodic snapshots.</a:t>
            </a:r>
            <a:endParaRPr lang="en-US" sz="12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699" y="3434011"/>
            <a:ext cx="240996" cy="241002"/>
          </a:xfrm>
          <a:prstGeom prst="rect">
            <a:avLst/>
          </a:prstGeom>
        </p:spPr>
      </p:pic>
      <p:sp>
        <p:nvSpPr>
          <p:cNvPr id="9" name="Text 5"/>
          <p:cNvSpPr/>
          <p:nvPr/>
        </p:nvSpPr>
        <p:spPr>
          <a:xfrm>
            <a:off x="1183551" y="3429099"/>
            <a:ext cx="471634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File &amp; Schema Validation</a:t>
            </a:r>
            <a:endParaRPr lang="en-US" sz="1550" dirty="0"/>
          </a:p>
        </p:txBody>
      </p:sp>
      <p:sp>
        <p:nvSpPr>
          <p:cNvPr id="10" name="Text 6"/>
          <p:cNvSpPr/>
          <p:nvPr/>
        </p:nvSpPr>
        <p:spPr>
          <a:xfrm>
            <a:off x="1183551" y="3816648"/>
            <a:ext cx="47163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Pre-ingestion checks for file format, delimiter consistency, and schema detection/enforcement.</a:t>
            </a:r>
            <a:endParaRPr lang="en-US" sz="12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699" y="4570065"/>
            <a:ext cx="240996" cy="241002"/>
          </a:xfrm>
          <a:prstGeom prst="rect">
            <a:avLst/>
          </a:prstGeom>
        </p:spPr>
      </p:pic>
      <p:sp>
        <p:nvSpPr>
          <p:cNvPr id="12" name="Text 7"/>
          <p:cNvSpPr/>
          <p:nvPr/>
        </p:nvSpPr>
        <p:spPr>
          <a:xfrm>
            <a:off x="1183551" y="4565154"/>
            <a:ext cx="471634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Error Handling &amp; Retry</a:t>
            </a:r>
            <a:endParaRPr lang="en-US" sz="1550" dirty="0"/>
          </a:p>
        </p:txBody>
      </p:sp>
      <p:sp>
        <p:nvSpPr>
          <p:cNvPr id="13" name="Text 8"/>
          <p:cNvSpPr/>
          <p:nvPr/>
        </p:nvSpPr>
        <p:spPr>
          <a:xfrm>
            <a:off x="1183551" y="4952702"/>
            <a:ext cx="47163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Corrupt records quarantined to a separate zone; transient errors trigger configurable retry logic.</a:t>
            </a:r>
            <a:endParaRPr lang="en-US" sz="1250" dirty="0"/>
          </a:p>
        </p:txBody>
      </p:sp>
      <p:sp>
        <p:nvSpPr>
          <p:cNvPr id="14" name="Text 9"/>
          <p:cNvSpPr/>
          <p:nvPr/>
        </p:nvSpPr>
        <p:spPr>
          <a:xfrm>
            <a:off x="6298149" y="1888430"/>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D8B6A4"/>
                </a:solidFill>
                <a:latin typeface="Gelasio" pitchFamily="34" charset="0"/>
                <a:ea typeface="Gelasio" pitchFamily="34" charset="-122"/>
                <a:cs typeface="Gelasio" pitchFamily="34" charset="-120"/>
              </a:rPr>
              <a:t>Azure Data Factory Automation</a:t>
            </a:r>
            <a:endParaRPr lang="en-US" sz="1550" dirty="0"/>
          </a:p>
        </p:txBody>
      </p:sp>
      <p:sp>
        <p:nvSpPr>
          <p:cNvPr id="15" name="Shape 10"/>
          <p:cNvSpPr/>
          <p:nvPr/>
        </p:nvSpPr>
        <p:spPr>
          <a:xfrm>
            <a:off x="6298149" y="2293045"/>
            <a:ext cx="642624" cy="1184275"/>
          </a:xfrm>
          <a:prstGeom prst="roundRect">
            <a:avLst>
              <a:gd name="adj" fmla="val 360022"/>
            </a:avLst>
          </a:prstGeom>
          <a:solidFill>
            <a:srgbClr val="373433"/>
          </a:solidFill>
          <a:ln/>
        </p:spPr>
      </p:sp>
      <p:sp>
        <p:nvSpPr>
          <p:cNvPr id="16" name="Text 11"/>
          <p:cNvSpPr/>
          <p:nvPr/>
        </p:nvSpPr>
        <p:spPr>
          <a:xfrm>
            <a:off x="6498963" y="2734568"/>
            <a:ext cx="240996" cy="301228"/>
          </a:xfrm>
          <a:prstGeom prst="rect">
            <a:avLst/>
          </a:prstGeom>
          <a:noFill/>
          <a:ln/>
        </p:spPr>
        <p:txBody>
          <a:bodyPr wrap="none" lIns="0" tIns="0" rIns="0" bIns="0" rtlCol="0" anchor="ctr"/>
          <a:lstStyle/>
          <a:p>
            <a:pPr algn="ctr" indent="0" marL="0">
              <a:lnSpc>
                <a:spcPct val="100000"/>
              </a:lnSpc>
              <a:buNone/>
            </a:pPr>
            <a:r>
              <a:rPr lang="en-US" sz="1850" dirty="0">
                <a:solidFill>
                  <a:srgbClr val="C9C2C0"/>
                </a:solidFill>
                <a:latin typeface="Gelasio" pitchFamily="34" charset="0"/>
                <a:ea typeface="Gelasio" pitchFamily="34" charset="-122"/>
                <a:cs typeface="Gelasio" pitchFamily="34" charset="-120"/>
              </a:rPr>
              <a:t>1</a:t>
            </a:r>
            <a:endParaRPr lang="en-US" sz="1850" dirty="0"/>
          </a:p>
        </p:txBody>
      </p:sp>
      <p:sp>
        <p:nvSpPr>
          <p:cNvPr id="17" name="Text 12"/>
          <p:cNvSpPr/>
          <p:nvPr/>
        </p:nvSpPr>
        <p:spPr>
          <a:xfrm>
            <a:off x="7077295" y="2453680"/>
            <a:ext cx="445927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Source Monitoring</a:t>
            </a:r>
            <a:endParaRPr lang="en-US" sz="1550" dirty="0"/>
          </a:p>
        </p:txBody>
      </p:sp>
      <p:sp>
        <p:nvSpPr>
          <p:cNvPr id="18" name="Text 13"/>
          <p:cNvSpPr/>
          <p:nvPr/>
        </p:nvSpPr>
        <p:spPr>
          <a:xfrm>
            <a:off x="7077295" y="2841228"/>
            <a:ext cx="445927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ADF continuously monitors defined cloud storage directories for new CSV files.</a:t>
            </a:r>
            <a:endParaRPr lang="en-US" sz="1250" dirty="0"/>
          </a:p>
        </p:txBody>
      </p:sp>
      <p:sp>
        <p:nvSpPr>
          <p:cNvPr id="19" name="Shape 14"/>
          <p:cNvSpPr/>
          <p:nvPr/>
        </p:nvSpPr>
        <p:spPr>
          <a:xfrm>
            <a:off x="6298149" y="3613845"/>
            <a:ext cx="642624" cy="1184275"/>
          </a:xfrm>
          <a:prstGeom prst="roundRect">
            <a:avLst>
              <a:gd name="adj" fmla="val 360022"/>
            </a:avLst>
          </a:prstGeom>
          <a:solidFill>
            <a:srgbClr val="373433"/>
          </a:solidFill>
          <a:ln/>
        </p:spPr>
      </p:sp>
      <p:sp>
        <p:nvSpPr>
          <p:cNvPr id="20" name="Text 15"/>
          <p:cNvSpPr/>
          <p:nvPr/>
        </p:nvSpPr>
        <p:spPr>
          <a:xfrm>
            <a:off x="6498963" y="4055368"/>
            <a:ext cx="240996" cy="301228"/>
          </a:xfrm>
          <a:prstGeom prst="rect">
            <a:avLst/>
          </a:prstGeom>
          <a:noFill/>
          <a:ln/>
        </p:spPr>
        <p:txBody>
          <a:bodyPr wrap="none" lIns="0" tIns="0" rIns="0" bIns="0" rtlCol="0" anchor="ctr"/>
          <a:lstStyle/>
          <a:p>
            <a:pPr algn="ctr" indent="0" marL="0">
              <a:lnSpc>
                <a:spcPct val="100000"/>
              </a:lnSpc>
              <a:buNone/>
            </a:pPr>
            <a:r>
              <a:rPr lang="en-US" sz="1850" dirty="0">
                <a:solidFill>
                  <a:srgbClr val="C9C2C0"/>
                </a:solidFill>
                <a:latin typeface="Gelasio" pitchFamily="34" charset="0"/>
                <a:ea typeface="Gelasio" pitchFamily="34" charset="-122"/>
                <a:cs typeface="Gelasio" pitchFamily="34" charset="-120"/>
              </a:rPr>
              <a:t>2</a:t>
            </a:r>
            <a:endParaRPr lang="en-US" sz="1850" dirty="0"/>
          </a:p>
        </p:txBody>
      </p:sp>
      <p:sp>
        <p:nvSpPr>
          <p:cNvPr id="21" name="Text 16"/>
          <p:cNvSpPr/>
          <p:nvPr/>
        </p:nvSpPr>
        <p:spPr>
          <a:xfrm>
            <a:off x="7077295" y="3774480"/>
            <a:ext cx="445927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Trigger Pipelines</a:t>
            </a:r>
            <a:endParaRPr lang="en-US" sz="1550" dirty="0"/>
          </a:p>
        </p:txBody>
      </p:sp>
      <p:sp>
        <p:nvSpPr>
          <p:cNvPr id="22" name="Text 17"/>
          <p:cNvSpPr/>
          <p:nvPr/>
        </p:nvSpPr>
        <p:spPr>
          <a:xfrm>
            <a:off x="7077295" y="4162028"/>
            <a:ext cx="445927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Detection of new files automatically triggers the ingestion pipeline to the Bronze layer.</a:t>
            </a:r>
            <a:endParaRPr lang="en-US" sz="1250" dirty="0"/>
          </a:p>
        </p:txBody>
      </p:sp>
      <p:sp>
        <p:nvSpPr>
          <p:cNvPr id="23" name="Shape 18"/>
          <p:cNvSpPr/>
          <p:nvPr/>
        </p:nvSpPr>
        <p:spPr>
          <a:xfrm>
            <a:off x="6298149" y="4934645"/>
            <a:ext cx="642624" cy="1184275"/>
          </a:xfrm>
          <a:prstGeom prst="roundRect">
            <a:avLst>
              <a:gd name="adj" fmla="val 360022"/>
            </a:avLst>
          </a:prstGeom>
          <a:solidFill>
            <a:srgbClr val="373433"/>
          </a:solidFill>
          <a:ln/>
        </p:spPr>
      </p:sp>
      <p:sp>
        <p:nvSpPr>
          <p:cNvPr id="24" name="Text 19"/>
          <p:cNvSpPr/>
          <p:nvPr/>
        </p:nvSpPr>
        <p:spPr>
          <a:xfrm>
            <a:off x="6498963" y="5376168"/>
            <a:ext cx="240996" cy="301228"/>
          </a:xfrm>
          <a:prstGeom prst="rect">
            <a:avLst/>
          </a:prstGeom>
          <a:noFill/>
          <a:ln/>
        </p:spPr>
        <p:txBody>
          <a:bodyPr wrap="none" lIns="0" tIns="0" rIns="0" bIns="0" rtlCol="0" anchor="ctr"/>
          <a:lstStyle/>
          <a:p>
            <a:pPr algn="ctr" indent="0" marL="0">
              <a:lnSpc>
                <a:spcPct val="100000"/>
              </a:lnSpc>
              <a:buNone/>
            </a:pPr>
            <a:r>
              <a:rPr lang="en-US" sz="1850" dirty="0">
                <a:solidFill>
                  <a:srgbClr val="C9C2C0"/>
                </a:solidFill>
                <a:latin typeface="Gelasio" pitchFamily="34" charset="0"/>
                <a:ea typeface="Gelasio" pitchFamily="34" charset="-122"/>
                <a:cs typeface="Gelasio" pitchFamily="34" charset="-120"/>
              </a:rPr>
              <a:t>3</a:t>
            </a:r>
            <a:endParaRPr lang="en-US" sz="1850" dirty="0"/>
          </a:p>
        </p:txBody>
      </p:sp>
      <p:sp>
        <p:nvSpPr>
          <p:cNvPr id="25" name="Text 20"/>
          <p:cNvSpPr/>
          <p:nvPr/>
        </p:nvSpPr>
        <p:spPr>
          <a:xfrm>
            <a:off x="7077295" y="5095280"/>
            <a:ext cx="4459275" cy="251023"/>
          </a:xfrm>
          <a:prstGeom prst="rect">
            <a:avLst/>
          </a:prstGeom>
          <a:noFill/>
          <a:ln/>
        </p:spPr>
        <p:txBody>
          <a:bodyPr wrap="none" lIns="0" tIns="0" rIns="0" bIns="0" rtlCol="0" anchor="t"/>
          <a:lstStyle/>
          <a:p>
            <a:pPr algn="l" indent="0" marL="0">
              <a:lnSpc>
                <a:spcPct val="104000"/>
              </a:lnSpc>
              <a:buNone/>
            </a:pPr>
            <a:r>
              <a:rPr lang="en-US" sz="1550" dirty="0">
                <a:solidFill>
                  <a:srgbClr val="C9C2C0"/>
                </a:solidFill>
                <a:latin typeface="Gelasio" pitchFamily="34" charset="0"/>
                <a:ea typeface="Gelasio" pitchFamily="34" charset="-122"/>
                <a:cs typeface="Gelasio" pitchFamily="34" charset="-120"/>
              </a:rPr>
              <a:t>Audit &amp; Logging</a:t>
            </a:r>
            <a:endParaRPr lang="en-US" sz="1550" dirty="0"/>
          </a:p>
        </p:txBody>
      </p:sp>
      <p:sp>
        <p:nvSpPr>
          <p:cNvPr id="26" name="Text 21"/>
          <p:cNvSpPr/>
          <p:nvPr/>
        </p:nvSpPr>
        <p:spPr>
          <a:xfrm>
            <a:off x="7077295" y="5482828"/>
            <a:ext cx="445927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C9C2C0"/>
                </a:solidFill>
                <a:latin typeface="Gelasio" pitchFamily="34" charset="0"/>
                <a:ea typeface="Gelasio" pitchFamily="34" charset="-122"/>
                <a:cs typeface="Gelasio" pitchFamily="34" charset="-120"/>
              </a:rPr>
              <a:t>Comprehensive logging captures ingestion status, record counts, and error details for each run.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44723"/>
            <a:ext cx="6296860" cy="377825"/>
          </a:xfrm>
          <a:prstGeom prst="rect">
            <a:avLst/>
          </a:prstGeom>
          <a:noFill/>
          <a:ln/>
        </p:spPr>
        <p:txBody>
          <a:bodyPr wrap="none" lIns="0" tIns="0" rIns="0" bIns="0" rtlCol="0" anchor="t"/>
          <a:lstStyle/>
          <a:p>
            <a:pPr algn="l" indent="0" marL="0">
              <a:lnSpc>
                <a:spcPct val="104000"/>
              </a:lnSpc>
              <a:buNone/>
            </a:pPr>
            <a:r>
              <a:rPr lang="en-US" sz="2350" dirty="0">
                <a:solidFill>
                  <a:srgbClr val="D8B6A4"/>
                </a:solidFill>
                <a:latin typeface="Gelasio" pitchFamily="34" charset="0"/>
                <a:ea typeface="Gelasio" pitchFamily="34" charset="-122"/>
                <a:cs typeface="Gelasio" pitchFamily="34" charset="-120"/>
              </a:rPr>
              <a:t>Cost Optimization &amp; Scaling</a:t>
            </a:r>
            <a:endParaRPr lang="en-US" sz="2350" dirty="0"/>
          </a:p>
        </p:txBody>
      </p:sp>
      <p:sp>
        <p:nvSpPr>
          <p:cNvPr id="4" name="Text 1"/>
          <p:cNvSpPr/>
          <p:nvPr/>
        </p:nvSpPr>
        <p:spPr>
          <a:xfrm>
            <a:off x="661475" y="1138535"/>
            <a:ext cx="6296860"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Implementing strategies to maximize efficiency and minimize cloud expenditures without compromising performance.</a:t>
            </a:r>
            <a:endParaRPr lang="en-US" sz="9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542852"/>
            <a:ext cx="6296860" cy="661095"/>
          </a:xfrm>
          <a:prstGeom prst="rect">
            <a:avLst/>
          </a:prstGeom>
        </p:spPr>
      </p:pic>
      <p:sp>
        <p:nvSpPr>
          <p:cNvPr id="6" name="Text 2"/>
          <p:cNvSpPr/>
          <p:nvPr/>
        </p:nvSpPr>
        <p:spPr>
          <a:xfrm>
            <a:off x="845819" y="1676400"/>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Azure Databricks Auto-Scaling</a:t>
            </a:r>
            <a:endParaRPr lang="en-US" sz="1150" dirty="0"/>
          </a:p>
        </p:txBody>
      </p:sp>
      <p:sp>
        <p:nvSpPr>
          <p:cNvPr id="7" name="Text 3"/>
          <p:cNvSpPr/>
          <p:nvPr/>
        </p:nvSpPr>
        <p:spPr>
          <a:xfrm>
            <a:off x="845819" y="1911747"/>
            <a:ext cx="5978971" cy="158651"/>
          </a:xfrm>
          <a:prstGeom prst="rect">
            <a:avLst/>
          </a:prstGeom>
          <a:noFill/>
          <a:ln/>
        </p:spPr>
        <p:txBody>
          <a:bodyPr wrap="none" lIns="0" tIns="0" rIns="0" bIns="0" rtlCol="0" anchor="t"/>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Dynamically adjusts cluster resources based on workload demand, preventing over-provisioning and idle costs.</a:t>
            </a:r>
            <a:endParaRPr lang="en-US" sz="9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281238"/>
            <a:ext cx="6296860" cy="819745"/>
          </a:xfrm>
          <a:prstGeom prst="rect">
            <a:avLst/>
          </a:prstGeom>
        </p:spPr>
      </p:pic>
      <p:sp>
        <p:nvSpPr>
          <p:cNvPr id="9" name="Text 4"/>
          <p:cNvSpPr/>
          <p:nvPr/>
        </p:nvSpPr>
        <p:spPr>
          <a:xfrm>
            <a:off x="845819" y="2414786"/>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Reserved Capacity</a:t>
            </a:r>
            <a:endParaRPr lang="en-US" sz="1150" dirty="0"/>
          </a:p>
        </p:txBody>
      </p:sp>
      <p:sp>
        <p:nvSpPr>
          <p:cNvPr id="10" name="Text 5"/>
          <p:cNvSpPr/>
          <p:nvPr/>
        </p:nvSpPr>
        <p:spPr>
          <a:xfrm>
            <a:off x="845819" y="2650133"/>
            <a:ext cx="5978971"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Committing to compute usage plans for significant discounts on Azure resources, ideal for predictable workloads.</a:t>
            </a:r>
            <a:endParaRPr lang="en-US" sz="9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178274"/>
            <a:ext cx="6296860" cy="661095"/>
          </a:xfrm>
          <a:prstGeom prst="rect">
            <a:avLst/>
          </a:prstGeom>
        </p:spPr>
      </p:pic>
      <p:sp>
        <p:nvSpPr>
          <p:cNvPr id="12" name="Text 6"/>
          <p:cNvSpPr/>
          <p:nvPr/>
        </p:nvSpPr>
        <p:spPr>
          <a:xfrm>
            <a:off x="845819" y="3311823"/>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Delta Lake Z-Order</a:t>
            </a:r>
            <a:endParaRPr lang="en-US" sz="1150" dirty="0"/>
          </a:p>
        </p:txBody>
      </p:sp>
      <p:sp>
        <p:nvSpPr>
          <p:cNvPr id="13" name="Text 7"/>
          <p:cNvSpPr/>
          <p:nvPr/>
        </p:nvSpPr>
        <p:spPr>
          <a:xfrm>
            <a:off x="845819" y="3547170"/>
            <a:ext cx="5978971" cy="158651"/>
          </a:xfrm>
          <a:prstGeom prst="rect">
            <a:avLst/>
          </a:prstGeom>
          <a:noFill/>
          <a:ln/>
        </p:spPr>
        <p:txBody>
          <a:bodyPr wrap="none" lIns="0" tIns="0" rIns="0" bIns="0" rtlCol="0" anchor="t"/>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Optimizes data layout for faster, more efficient query execution by co-locating related data in storage.</a:t>
            </a:r>
            <a:endParaRPr lang="en-US" sz="95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3916660"/>
            <a:ext cx="6296860" cy="661095"/>
          </a:xfrm>
          <a:prstGeom prst="rect">
            <a:avLst/>
          </a:prstGeom>
        </p:spPr>
      </p:pic>
      <p:sp>
        <p:nvSpPr>
          <p:cNvPr id="15" name="Text 8"/>
          <p:cNvSpPr/>
          <p:nvPr/>
        </p:nvSpPr>
        <p:spPr>
          <a:xfrm>
            <a:off x="845819" y="4050209"/>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Cost Per Query Metrics</a:t>
            </a:r>
            <a:endParaRPr lang="en-US" sz="1150" dirty="0"/>
          </a:p>
        </p:txBody>
      </p:sp>
      <p:sp>
        <p:nvSpPr>
          <p:cNvPr id="16" name="Text 9"/>
          <p:cNvSpPr/>
          <p:nvPr/>
        </p:nvSpPr>
        <p:spPr>
          <a:xfrm>
            <a:off x="845819" y="4285555"/>
            <a:ext cx="5978971" cy="158651"/>
          </a:xfrm>
          <a:prstGeom prst="rect">
            <a:avLst/>
          </a:prstGeom>
          <a:noFill/>
          <a:ln/>
        </p:spPr>
        <p:txBody>
          <a:bodyPr wrap="none" lIns="0" tIns="0" rIns="0" bIns="0" rtlCol="0" anchor="t"/>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Monitors and analyzes query performance against cost, identifying areas for further optimization.</a:t>
            </a:r>
            <a:endParaRPr lang="en-US" sz="950" dirty="0"/>
          </a:p>
        </p:txBody>
      </p:sp>
      <p:pic>
        <p:nvPicPr>
          <p:cNvPr id="1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1475" y="4655046"/>
            <a:ext cx="6296860" cy="661095"/>
          </a:xfrm>
          <a:prstGeom prst="rect">
            <a:avLst/>
          </a:prstGeom>
        </p:spPr>
      </p:pic>
      <p:sp>
        <p:nvSpPr>
          <p:cNvPr id="18" name="Text 10"/>
          <p:cNvSpPr/>
          <p:nvPr/>
        </p:nvSpPr>
        <p:spPr>
          <a:xfrm>
            <a:off x="845819" y="4788595"/>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Incremental Processing</a:t>
            </a:r>
            <a:endParaRPr lang="en-US" sz="1150" dirty="0"/>
          </a:p>
        </p:txBody>
      </p:sp>
      <p:sp>
        <p:nvSpPr>
          <p:cNvPr id="19" name="Text 11"/>
          <p:cNvSpPr/>
          <p:nvPr/>
        </p:nvSpPr>
        <p:spPr>
          <a:xfrm>
            <a:off x="845819" y="5023941"/>
            <a:ext cx="5978971" cy="158651"/>
          </a:xfrm>
          <a:prstGeom prst="rect">
            <a:avLst/>
          </a:prstGeom>
          <a:noFill/>
          <a:ln/>
        </p:spPr>
        <p:txBody>
          <a:bodyPr wrap="none" lIns="0" tIns="0" rIns="0" bIns="0" rtlCol="0" anchor="t"/>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Only processes new or changed data using dbt models, drastically reducing compute time and associated costs.</a:t>
            </a:r>
            <a:endParaRPr lang="en-US" sz="950" dirty="0"/>
          </a:p>
        </p:txBody>
      </p:sp>
      <p:pic>
        <p:nvPicPr>
          <p:cNvPr id="20"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1475" y="5393432"/>
            <a:ext cx="6296860" cy="819745"/>
          </a:xfrm>
          <a:prstGeom prst="rect">
            <a:avLst/>
          </a:prstGeom>
        </p:spPr>
      </p:pic>
      <p:sp>
        <p:nvSpPr>
          <p:cNvPr id="21" name="Text 12"/>
          <p:cNvSpPr/>
          <p:nvPr/>
        </p:nvSpPr>
        <p:spPr>
          <a:xfrm>
            <a:off x="845819" y="5526980"/>
            <a:ext cx="5978971" cy="189012"/>
          </a:xfrm>
          <a:prstGeom prst="rect">
            <a:avLst/>
          </a:prstGeom>
          <a:noFill/>
          <a:ln/>
        </p:spPr>
        <p:txBody>
          <a:bodyPr wrap="none" lIns="0" tIns="0" rIns="0" bIns="0" rtlCol="0" anchor="t"/>
          <a:lstStyle/>
          <a:p>
            <a:pPr algn="l" indent="0" marL="0">
              <a:lnSpc>
                <a:spcPct val="104000"/>
              </a:lnSpc>
              <a:buNone/>
            </a:pPr>
            <a:r>
              <a:rPr lang="en-US" sz="1150" dirty="0">
                <a:solidFill>
                  <a:srgbClr val="C9C2C0"/>
                </a:solidFill>
                <a:latin typeface="Gelasio" pitchFamily="34" charset="0"/>
                <a:ea typeface="Gelasio" pitchFamily="34" charset="-122"/>
                <a:cs typeface="Gelasio" pitchFamily="34" charset="-120"/>
              </a:rPr>
              <a:t>Data Partitioning</a:t>
            </a:r>
            <a:endParaRPr lang="en-US" sz="1150" dirty="0"/>
          </a:p>
        </p:txBody>
      </p:sp>
      <p:sp>
        <p:nvSpPr>
          <p:cNvPr id="22" name="Text 13"/>
          <p:cNvSpPr/>
          <p:nvPr/>
        </p:nvSpPr>
        <p:spPr>
          <a:xfrm>
            <a:off x="845819" y="5762327"/>
            <a:ext cx="5978971" cy="317302"/>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C9C2C0"/>
                </a:solidFill>
                <a:latin typeface="Gelasio" pitchFamily="34" charset="0"/>
                <a:ea typeface="Gelasio" pitchFamily="34" charset="-122"/>
                <a:cs typeface="Gelasio" pitchFamily="34" charset="-120"/>
              </a:rPr>
              <a:t>Divides large datasets into smaller, manageable parts, enabling efficient data skipping and faster query responses.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586184"/>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D8B6A4"/>
                </a:solidFill>
                <a:latin typeface="Gelasio" pitchFamily="34" charset="0"/>
                <a:ea typeface="Gelasio" pitchFamily="34" charset="-122"/>
                <a:cs typeface="Gelasio" pitchFamily="34" charset="-120"/>
              </a:rPr>
              <a:t>CI/CD &amp; Version Control</a:t>
            </a:r>
            <a:endParaRPr lang="en-US" sz="3300" dirty="0"/>
          </a:p>
        </p:txBody>
      </p:sp>
      <p:sp>
        <p:nvSpPr>
          <p:cNvPr id="3" name="Text 1"/>
          <p:cNvSpPr/>
          <p:nvPr/>
        </p:nvSpPr>
        <p:spPr>
          <a:xfrm>
            <a:off x="661475" y="1423988"/>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Robust processes ensure code quality, seamless deployments, and a reliable data pipeline from development to production.</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54795"/>
            <a:ext cx="3520788" cy="2261195"/>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9825" y="2007890"/>
            <a:ext cx="204088" cy="204093"/>
          </a:xfrm>
          <a:prstGeom prst="rect">
            <a:avLst/>
          </a:prstGeom>
        </p:spPr>
      </p:pic>
      <p:sp>
        <p:nvSpPr>
          <p:cNvPr id="6" name="Text 2"/>
          <p:cNvSpPr/>
          <p:nvPr/>
        </p:nvSpPr>
        <p:spPr>
          <a:xfrm>
            <a:off x="850581" y="2535138"/>
            <a:ext cx="3142576"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GitHub Integration</a:t>
            </a:r>
            <a:endParaRPr lang="en-US" sz="1650" dirty="0"/>
          </a:p>
        </p:txBody>
      </p:sp>
      <p:sp>
        <p:nvSpPr>
          <p:cNvPr id="7" name="Text 3"/>
          <p:cNvSpPr/>
          <p:nvPr/>
        </p:nvSpPr>
        <p:spPr>
          <a:xfrm>
            <a:off x="850581" y="2892623"/>
            <a:ext cx="3142576"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All dbt models and SQL transformations are version-controlled in GitHub, enabling collaborative development and a clear history of changes.</a:t>
            </a:r>
            <a:endParaRPr lang="en-US" sz="13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5354" y="1854795"/>
            <a:ext cx="3520888" cy="2261195"/>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93704" y="2007890"/>
            <a:ext cx="204088" cy="204093"/>
          </a:xfrm>
          <a:prstGeom prst="rect">
            <a:avLst/>
          </a:prstGeom>
        </p:spPr>
      </p:pic>
      <p:sp>
        <p:nvSpPr>
          <p:cNvPr id="10" name="Text 4"/>
          <p:cNvSpPr/>
          <p:nvPr/>
        </p:nvSpPr>
        <p:spPr>
          <a:xfrm>
            <a:off x="4524460" y="2535138"/>
            <a:ext cx="3142675"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Automated Testing</a:t>
            </a:r>
            <a:endParaRPr lang="en-US" sz="1650" dirty="0"/>
          </a:p>
        </p:txBody>
      </p:sp>
      <p:sp>
        <p:nvSpPr>
          <p:cNvPr id="11" name="Text 5"/>
          <p:cNvSpPr/>
          <p:nvPr/>
        </p:nvSpPr>
        <p:spPr>
          <a:xfrm>
            <a:off x="4524460" y="2892623"/>
            <a:ext cx="3142675"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Every pull request triggers a suite of dbt tests, validating data quality, schema integrity, and model logic before merging to main.</a:t>
            </a:r>
            <a:endParaRPr lang="en-US" sz="13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09332" y="1854795"/>
            <a:ext cx="3520888" cy="2261195"/>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67683" y="2007890"/>
            <a:ext cx="204088" cy="204093"/>
          </a:xfrm>
          <a:prstGeom prst="rect">
            <a:avLst/>
          </a:prstGeom>
        </p:spPr>
      </p:pic>
      <p:sp>
        <p:nvSpPr>
          <p:cNvPr id="14" name="Text 6"/>
          <p:cNvSpPr/>
          <p:nvPr/>
        </p:nvSpPr>
        <p:spPr>
          <a:xfrm>
            <a:off x="8198439" y="2535138"/>
            <a:ext cx="3142675"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Environment Promotion</a:t>
            </a:r>
            <a:endParaRPr lang="en-US" sz="1650" dirty="0"/>
          </a:p>
        </p:txBody>
      </p:sp>
      <p:sp>
        <p:nvSpPr>
          <p:cNvPr id="15" name="Text 7"/>
          <p:cNvSpPr/>
          <p:nvPr/>
        </p:nvSpPr>
        <p:spPr>
          <a:xfrm>
            <a:off x="8198439" y="2892623"/>
            <a:ext cx="3142675"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A structured workflow promotes validated changes from development to staging, and then to the production environment, ensuring stability.</a:t>
            </a:r>
            <a:endParaRPr lang="en-US" sz="130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4269085"/>
            <a:ext cx="5357778" cy="2002631"/>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238270" y="4422180"/>
            <a:ext cx="204088" cy="204093"/>
          </a:xfrm>
          <a:prstGeom prst="rect">
            <a:avLst/>
          </a:prstGeom>
        </p:spPr>
      </p:pic>
      <p:sp>
        <p:nvSpPr>
          <p:cNvPr id="18" name="Text 8"/>
          <p:cNvSpPr/>
          <p:nvPr/>
        </p:nvSpPr>
        <p:spPr>
          <a:xfrm>
            <a:off x="850581" y="4949428"/>
            <a:ext cx="4979565"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Rollback Procedures</a:t>
            </a:r>
            <a:endParaRPr lang="en-US" sz="1650" dirty="0"/>
          </a:p>
        </p:txBody>
      </p:sp>
      <p:sp>
        <p:nvSpPr>
          <p:cNvPr id="19" name="Text 9"/>
          <p:cNvSpPr/>
          <p:nvPr/>
        </p:nvSpPr>
        <p:spPr>
          <a:xfrm>
            <a:off x="850581" y="5306913"/>
            <a:ext cx="497956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In case of issues, the version-controlled nature of dbt models allows for quick and safe rollbacks to previous stable versions.</a:t>
            </a:r>
            <a:endParaRPr lang="en-US" sz="1300" dirty="0"/>
          </a:p>
        </p:txBody>
      </p:sp>
      <p:pic>
        <p:nvPicPr>
          <p:cNvPr id="2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172343" y="4269085"/>
            <a:ext cx="5357877" cy="2002631"/>
          </a:xfrm>
          <a:prstGeom prst="rect">
            <a:avLst/>
          </a:prstGeom>
        </p:spPr>
      </p:pic>
      <p:pic>
        <p:nvPicPr>
          <p:cNvPr id="2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749238" y="4422180"/>
            <a:ext cx="204088" cy="204093"/>
          </a:xfrm>
          <a:prstGeom prst="rect">
            <a:avLst/>
          </a:prstGeom>
        </p:spPr>
      </p:pic>
      <p:sp>
        <p:nvSpPr>
          <p:cNvPr id="22" name="Text 10"/>
          <p:cNvSpPr/>
          <p:nvPr/>
        </p:nvSpPr>
        <p:spPr>
          <a:xfrm>
            <a:off x="6361449" y="4949428"/>
            <a:ext cx="4979664" cy="265708"/>
          </a:xfrm>
          <a:prstGeom prst="rect">
            <a:avLst/>
          </a:prstGeom>
          <a:noFill/>
          <a:ln/>
        </p:spPr>
        <p:txBody>
          <a:bodyPr wrap="none" lIns="0" tIns="0" rIns="0" bIns="0" rtlCol="0" anchor="t"/>
          <a:lstStyle/>
          <a:p>
            <a:pPr algn="l" indent="0" marL="0">
              <a:lnSpc>
                <a:spcPct val="104000"/>
              </a:lnSpc>
              <a:buNone/>
            </a:pPr>
            <a:r>
              <a:rPr lang="en-US" sz="1650" dirty="0">
                <a:solidFill>
                  <a:srgbClr val="C9C2C0"/>
                </a:solidFill>
                <a:latin typeface="Gelasio" pitchFamily="34" charset="0"/>
                <a:ea typeface="Gelasio" pitchFamily="34" charset="-122"/>
                <a:cs typeface="Gelasio" pitchFamily="34" charset="-120"/>
              </a:rPr>
              <a:t>dbt Cloud Scheduler</a:t>
            </a:r>
            <a:endParaRPr lang="en-US" sz="1650" dirty="0"/>
          </a:p>
        </p:txBody>
      </p:sp>
      <p:sp>
        <p:nvSpPr>
          <p:cNvPr id="23" name="Text 11"/>
          <p:cNvSpPr/>
          <p:nvPr/>
        </p:nvSpPr>
        <p:spPr>
          <a:xfrm>
            <a:off x="6361449" y="5306913"/>
            <a:ext cx="4979664"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9C2C0"/>
                </a:solidFill>
                <a:latin typeface="Gelasio" pitchFamily="34" charset="0"/>
                <a:ea typeface="Gelasio" pitchFamily="34" charset="-122"/>
                <a:cs typeface="Gelasio" pitchFamily="34" charset="-120"/>
              </a:rPr>
              <a:t>Production deployments are managed and scheduled via dbt Cloud, providing reliable execution and monitoring for critical data transformations.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714673"/>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D8B6A4"/>
                </a:solidFill>
                <a:latin typeface="Gelasio" pitchFamily="34" charset="0"/>
                <a:ea typeface="Gelasio" pitchFamily="34" charset="-122"/>
                <a:cs typeface="Gelasio" pitchFamily="34" charset="-120"/>
              </a:rPr>
              <a:t>Conclusion &amp; Next Steps</a:t>
            </a:r>
            <a:endParaRPr lang="en-US" sz="2950" dirty="0"/>
          </a:p>
        </p:txBody>
      </p:sp>
      <p:sp>
        <p:nvSpPr>
          <p:cNvPr id="3" name="Text 1"/>
          <p:cNvSpPr/>
          <p:nvPr/>
        </p:nvSpPr>
        <p:spPr>
          <a:xfrm>
            <a:off x="661475" y="1368524"/>
            <a:ext cx="10868745"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This project has successfully established a robust, scalable, and cost-effective data pipeline, transforming raw e-commerce data into actionable insights for strategic decision-making.</a:t>
            </a:r>
            <a:endParaRPr lang="en-US" sz="1150" dirty="0"/>
          </a:p>
        </p:txBody>
      </p:sp>
      <p:sp>
        <p:nvSpPr>
          <p:cNvPr id="4" name="Text 2"/>
          <p:cNvSpPr/>
          <p:nvPr/>
        </p:nvSpPr>
        <p:spPr>
          <a:xfrm>
            <a:off x="661475" y="2060873"/>
            <a:ext cx="5249930" cy="283468"/>
          </a:xfrm>
          <a:prstGeom prst="rect">
            <a:avLst/>
          </a:prstGeom>
          <a:noFill/>
          <a:ln/>
        </p:spPr>
        <p:txBody>
          <a:bodyPr wrap="none" lIns="0" tIns="0" rIns="0" bIns="0" rtlCol="0" anchor="t"/>
          <a:lstStyle/>
          <a:p>
            <a:pPr algn="l" indent="0" marL="0">
              <a:lnSpc>
                <a:spcPct val="104000"/>
              </a:lnSpc>
              <a:buNone/>
            </a:pPr>
            <a:r>
              <a:rPr lang="en-US" sz="1750" dirty="0">
                <a:solidFill>
                  <a:srgbClr val="D8B6A4"/>
                </a:solidFill>
                <a:latin typeface="Gelasio" pitchFamily="34" charset="0"/>
                <a:ea typeface="Gelasio" pitchFamily="34" charset="-122"/>
                <a:cs typeface="Gelasio" pitchFamily="34" charset="-120"/>
              </a:rPr>
              <a:t>Key Achievements &amp; Impact</a:t>
            </a:r>
            <a:endParaRPr lang="en-US" sz="1750" dirty="0"/>
          </a:p>
        </p:txBody>
      </p:sp>
      <p:sp>
        <p:nvSpPr>
          <p:cNvPr id="5" name="Shape 3"/>
          <p:cNvSpPr/>
          <p:nvPr/>
        </p:nvSpPr>
        <p:spPr>
          <a:xfrm>
            <a:off x="661475" y="2480370"/>
            <a:ext cx="5249930" cy="1094978"/>
          </a:xfrm>
          <a:prstGeom prst="roundRect">
            <a:avLst>
              <a:gd name="adj" fmla="val 2071"/>
            </a:avLst>
          </a:prstGeom>
          <a:solidFill>
            <a:srgbClr val="373433"/>
          </a:solidFill>
          <a:ln/>
        </p:spPr>
      </p:sp>
      <p:sp>
        <p:nvSpPr>
          <p:cNvPr id="6" name="Text 4"/>
          <p:cNvSpPr/>
          <p:nvPr/>
        </p:nvSpPr>
        <p:spPr>
          <a:xfrm>
            <a:off x="812680" y="2631579"/>
            <a:ext cx="4947518"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End-to-End Visibility</a:t>
            </a:r>
            <a:endParaRPr lang="en-US" sz="1450" dirty="0"/>
          </a:p>
        </p:txBody>
      </p:sp>
      <p:sp>
        <p:nvSpPr>
          <p:cNvPr id="7" name="Text 5"/>
          <p:cNvSpPr/>
          <p:nvPr/>
        </p:nvSpPr>
        <p:spPr>
          <a:xfrm>
            <a:off x="812680" y="2988766"/>
            <a:ext cx="4947518"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Empowering real-time monitoring of e-commerce performance and customer behavior.</a:t>
            </a:r>
            <a:endParaRPr lang="en-US" sz="1150" dirty="0"/>
          </a:p>
        </p:txBody>
      </p:sp>
      <p:sp>
        <p:nvSpPr>
          <p:cNvPr id="8" name="Shape 6"/>
          <p:cNvSpPr/>
          <p:nvPr/>
        </p:nvSpPr>
        <p:spPr>
          <a:xfrm>
            <a:off x="661475" y="3696295"/>
            <a:ext cx="5249930" cy="1094978"/>
          </a:xfrm>
          <a:prstGeom prst="roundRect">
            <a:avLst>
              <a:gd name="adj" fmla="val 2071"/>
            </a:avLst>
          </a:prstGeom>
          <a:solidFill>
            <a:srgbClr val="373433"/>
          </a:solidFill>
          <a:ln/>
        </p:spPr>
      </p:sp>
      <p:sp>
        <p:nvSpPr>
          <p:cNvPr id="9" name="Text 7"/>
          <p:cNvSpPr/>
          <p:nvPr/>
        </p:nvSpPr>
        <p:spPr>
          <a:xfrm>
            <a:off x="812680" y="3847505"/>
            <a:ext cx="4947518"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Reliable Data Foundation</a:t>
            </a:r>
            <a:endParaRPr lang="en-US" sz="1450" dirty="0"/>
          </a:p>
        </p:txBody>
      </p:sp>
      <p:sp>
        <p:nvSpPr>
          <p:cNvPr id="10" name="Text 8"/>
          <p:cNvSpPr/>
          <p:nvPr/>
        </p:nvSpPr>
        <p:spPr>
          <a:xfrm>
            <a:off x="812680" y="4204692"/>
            <a:ext cx="4947518"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Utilizing a Medallion architecture for structured, governed, and high-quality data assets.</a:t>
            </a:r>
            <a:endParaRPr lang="en-US" sz="1150" dirty="0"/>
          </a:p>
        </p:txBody>
      </p:sp>
      <p:sp>
        <p:nvSpPr>
          <p:cNvPr id="11" name="Shape 9"/>
          <p:cNvSpPr/>
          <p:nvPr/>
        </p:nvSpPr>
        <p:spPr>
          <a:xfrm>
            <a:off x="661475" y="4912221"/>
            <a:ext cx="5249930" cy="1094978"/>
          </a:xfrm>
          <a:prstGeom prst="roundRect">
            <a:avLst>
              <a:gd name="adj" fmla="val 2071"/>
            </a:avLst>
          </a:prstGeom>
          <a:solidFill>
            <a:srgbClr val="373433"/>
          </a:solidFill>
          <a:ln/>
        </p:spPr>
      </p:sp>
      <p:sp>
        <p:nvSpPr>
          <p:cNvPr id="12" name="Text 10"/>
          <p:cNvSpPr/>
          <p:nvPr/>
        </p:nvSpPr>
        <p:spPr>
          <a:xfrm>
            <a:off x="812680" y="5063430"/>
            <a:ext cx="4947518" cy="236240"/>
          </a:xfrm>
          <a:prstGeom prst="rect">
            <a:avLst/>
          </a:prstGeom>
          <a:noFill/>
          <a:ln/>
        </p:spPr>
        <p:txBody>
          <a:bodyPr wrap="none" lIns="0" tIns="0" rIns="0" bIns="0" rtlCol="0" anchor="t"/>
          <a:lstStyle/>
          <a:p>
            <a:pPr algn="l" indent="0" marL="0">
              <a:lnSpc>
                <a:spcPct val="104000"/>
              </a:lnSpc>
              <a:buNone/>
            </a:pPr>
            <a:r>
              <a:rPr lang="en-US" sz="1450" dirty="0">
                <a:solidFill>
                  <a:srgbClr val="C9C2C0"/>
                </a:solidFill>
                <a:latin typeface="Gelasio" pitchFamily="34" charset="0"/>
                <a:ea typeface="Gelasio" pitchFamily="34" charset="-122"/>
                <a:cs typeface="Gelasio" pitchFamily="34" charset="-120"/>
              </a:rPr>
              <a:t>Optimized Operations</a:t>
            </a:r>
            <a:endParaRPr lang="en-US" sz="1450" dirty="0"/>
          </a:p>
        </p:txBody>
      </p:sp>
      <p:sp>
        <p:nvSpPr>
          <p:cNvPr id="13" name="Text 11"/>
          <p:cNvSpPr/>
          <p:nvPr/>
        </p:nvSpPr>
        <p:spPr>
          <a:xfrm>
            <a:off x="812680" y="5420618"/>
            <a:ext cx="4947518"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C9C2C0"/>
                </a:solidFill>
                <a:latin typeface="Gelasio" pitchFamily="34" charset="0"/>
                <a:ea typeface="Gelasio" pitchFamily="34" charset="-122"/>
                <a:cs typeface="Gelasio" pitchFamily="34" charset="-120"/>
              </a:rPr>
              <a:t>Implementing cost-efficient processes with Azure Databricks and dbt, ensuring future scalability.</a:t>
            </a:r>
            <a:endParaRPr lang="en-US" sz="1150" dirty="0"/>
          </a:p>
        </p:txBody>
      </p:sp>
      <p:sp>
        <p:nvSpPr>
          <p:cNvPr id="14" name="Text 12"/>
          <p:cNvSpPr/>
          <p:nvPr/>
        </p:nvSpPr>
        <p:spPr>
          <a:xfrm>
            <a:off x="6286640" y="2060873"/>
            <a:ext cx="5249930" cy="283468"/>
          </a:xfrm>
          <a:prstGeom prst="rect">
            <a:avLst/>
          </a:prstGeom>
          <a:noFill/>
          <a:ln/>
        </p:spPr>
        <p:txBody>
          <a:bodyPr wrap="none" lIns="0" tIns="0" rIns="0" bIns="0" rtlCol="0" anchor="t"/>
          <a:lstStyle/>
          <a:p>
            <a:pPr algn="l" indent="0" marL="0">
              <a:lnSpc>
                <a:spcPct val="104000"/>
              </a:lnSpc>
              <a:buNone/>
            </a:pPr>
            <a:r>
              <a:rPr lang="en-US" sz="1750" dirty="0">
                <a:solidFill>
                  <a:srgbClr val="D8B6A4"/>
                </a:solidFill>
                <a:latin typeface="Gelasio" pitchFamily="34" charset="0"/>
                <a:ea typeface="Gelasio" pitchFamily="34" charset="-122"/>
                <a:cs typeface="Gelasio" pitchFamily="34" charset="-120"/>
              </a:rPr>
              <a:t>Future Enhancements &amp; Call to Action</a:t>
            </a:r>
            <a:endParaRPr lang="en-US" sz="1750" dirty="0"/>
          </a:p>
        </p:txBody>
      </p:sp>
      <p:sp>
        <p:nvSpPr>
          <p:cNvPr id="15" name="Text 13"/>
          <p:cNvSpPr/>
          <p:nvPr/>
        </p:nvSpPr>
        <p:spPr>
          <a:xfrm>
            <a:off x="6286640" y="2465288"/>
            <a:ext cx="5249930" cy="1868289"/>
          </a:xfrm>
          <a:prstGeom prst="rect">
            <a:avLst/>
          </a:prstGeom>
          <a:noFill/>
          <a:ln/>
        </p:spPr>
        <p:txBody>
          <a:bodyPr wrap="square" lIns="0" tIns="0" rIns="0" bIns="0" rtlCol="0" anchor="t">
            <a:normAutofit/>
          </a:bodyPr>
          <a:lstStyle/>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Stakeholder Feedback:</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Provide input on current dashboards to refine and enhance analytical capabilities.</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Data Expansion:</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Identify new external data sources for integration, enriching the 360-degree customer view.</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Advanced Analytics:</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Explore machine learning applications for demand forecasting and personalized recommendations.</a:t>
            </a:r>
            <a:endParaRPr lang="en-US" sz="1150" dirty="0"/>
          </a:p>
          <a:p>
            <a:pPr algn="l" marL="233680" indent="-233680">
              <a:lnSpc>
                <a:spcPct val="120000"/>
              </a:lnSpc>
              <a:buSzPct val="100000"/>
              <a:buChar char="•"/>
            </a:pPr>
            <a:r>
              <a:rPr lang="en-US" sz="1150" b="1" dirty="0">
                <a:solidFill>
                  <a:srgbClr val="C9C2C0"/>
                </a:solidFill>
                <a:latin typeface="Gelasio Bold" pitchFamily="34" charset="0"/>
                <a:ea typeface="Gelasio Bold" pitchFamily="34" charset="-122"/>
                <a:cs typeface="Gelasio Bold" pitchFamily="34" charset="-120"/>
              </a:rPr>
              <a:t>Continuous Improvement:</a:t>
            </a:r>
            <a:pPr algn="l" marL="233680" indent="-233680">
              <a:lnSpc>
                <a:spcPct val="120000"/>
              </a:lnSpc>
              <a:buSzPct val="100000"/>
              <a:buChar char="•"/>
            </a:pPr>
            <a:r>
              <a:rPr lang="en-US" sz="1150" dirty="0">
                <a:solidFill>
                  <a:srgbClr val="C9C2C0"/>
                </a:solidFill>
                <a:latin typeface="Gelasio" pitchFamily="34" charset="0"/>
                <a:ea typeface="Gelasio" pitchFamily="34" charset="-122"/>
                <a:cs typeface="Gelasio" pitchFamily="34" charset="-120"/>
              </a:rPr>
              <a:t> Collaborate on ongoing pipeline optimizations and feature development roadmap.</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2026-07-12T13:22:33Z</dcterms:created>
  <dcterms:modified xsi:type="dcterms:W3CDTF">2026-07-12T13:22:33Z</dcterms:modified>
</cp:coreProperties>
</file>